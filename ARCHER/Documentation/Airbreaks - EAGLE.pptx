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71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E382C5D-063E-8E39-91C6-85EB16AAA3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B817D54-1C49-734A-6C8F-7A2C37C0C1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4DE67-BD96-4378-9921-83B65655E89B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9E1369-D9A5-A348-717B-864280425F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8E71C0-1B56-DAE7-3743-A965BE5864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68BF3-8E03-4F08-8635-CE03502E581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1397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BEB72-D16B-4FCA-BD61-E37897CF9963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9A81-E661-45EF-B77F-B05989ED02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9058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7F4C9A1-BF5A-F303-115B-67780D7925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7ACBB0-6585-CD05-80D9-9C44166E16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90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9859-FD5F-2BAA-AE8B-A5209FAD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5D4CAC-F844-44F4-522D-E08D78E03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84A2CC-FDCE-F724-E9A9-D48C61041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1F7F0A-CC26-4488-854D-BA37ABDEB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8EB59-2EED-A7B1-0B5B-C79777A2DB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173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7031-2A58-9B71-085E-31450612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B8322C-5E27-1E41-0260-8F8F46AB0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90ED6A-BCCD-603D-0BFA-63B68AF7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1844-3772-463B-C349-2FE9DD04E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7FFC2C-C785-639C-6790-920CC49CE4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70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8172-D452-056E-47F9-426A5147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ACDA17-94B6-0A2A-6384-901894640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F388DA8-3FBB-0843-B69B-FF16D73F3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D375D5-8954-31AC-7899-EFF94CC74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D1C7AB-DFFA-8FDA-2F65-1D1704B459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880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1254-A6A9-1658-6611-785FF482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A9E34D4-E81F-DD7B-2A15-7DE39CAB0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24C6AF-BA4D-138B-2D07-D16E3F82F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B3D37F-A619-94F1-636F-5656F2D61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B833C7-49CE-5D42-14D6-EBA21C9C8E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709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C5FC0-B80D-9D09-CFF8-952AC287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390D23-35E4-BCEB-D720-10A880193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BE24AD-A481-9584-60FC-DD110874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8FD94E-EC69-38AD-65D8-60406813A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CA5C5-4189-091B-CB97-0C5E0873CF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74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7A7B-B6E7-1709-737A-C63196F4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139109-556E-0F91-F3BB-428711856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A5CCBDF-6053-69CE-38D7-7EA7F5289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9DD834-80EA-3868-1AD4-471F17EED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37DE8E-4413-65DC-D92C-2776FFF966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457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FD32-A19F-1D62-F2E4-4E9C94A8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71D675-4675-CF56-8C39-0C992ACFB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6330A1-7FC4-D69B-AF76-57141C42C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AAE75B-22D8-3C75-FFB5-0499DAD71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45811-BA0D-0512-D171-FD3B150DCB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98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F2BE-68A3-7252-9A9A-D812217B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60BBDC3-45CF-AF04-84A4-09FF6F73D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2EAADB-2628-E53B-FE30-482523AC1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B2D000-C223-A175-BE2C-058E7A6AC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10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533274-4DC9-D5A9-02D5-F68F95587B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679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FFA2-6F26-13FB-E718-90FE990E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F74F72-6BA4-EAB3-6B20-65AB233B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C660BAE-BB89-6C0B-B1D6-A633BD643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7A359B-33F7-A243-B265-C79BCE099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11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8C03BF-DEBB-DD39-47CF-4EBF3D8198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9306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A850-48AE-7552-D8A5-458D1830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3633542-C1D9-8BFD-950A-5CBFB8DAC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D1736F-9DB4-8768-9350-CD2592603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b="0" i="0" dirty="0">
              <a:solidFill>
                <a:srgbClr val="44546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49754E-7D8F-6AB4-2AEC-37EFF81D2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46E0A-8806-433F-AFE1-A341F4C36B9D}" type="slidenum">
              <a:rPr lang="de-DE" smtClean="0"/>
              <a:t>12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80AF1C-F4A1-0472-FF39-3480D4623A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9701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dirty="0"/>
              <a:t>Es ist </a:t>
            </a:r>
            <a:r>
              <a:rPr lang="de-DE"/>
              <a:t>zwar offiziell </a:t>
            </a:r>
            <a:r>
              <a:rPr lang="de-DE" dirty="0"/>
              <a:t>nichts geplant worden, aber man trotzdem noch nach Lust und Laune spontan in ne Kneipe gehen</a:t>
            </a:r>
            <a:endParaRPr dirty="0"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180BF4E-76E1-CB34-4475-24B071D6DC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0D5638-195C-B266-3D4F-71107F881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024269-EB15-3333-96D5-5B4E840ED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A4CB1-1085-33A9-80F7-85B4D5DE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B6A91C-18A6-F81E-4F01-9CC48D58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668143-9815-DE5D-8791-21BD40D6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EFE3A-A69A-1DBA-4C0E-F1AF2CE2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5CBFF8-D82C-098E-B4F2-ADE061681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7F037C-667A-1C13-F4FB-E2CB92B9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EABDE5-41F1-7EC7-777A-B8090812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1A18DA-92D1-31D0-EFDC-4F8A3AED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417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3F040-E665-2CD2-483A-05436122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FE5BF5-928D-3C4B-B973-57EC975D3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41DFC-94F7-4E73-6C57-348E644A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9E2F70-6B90-175F-02CE-5C09A1BAC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4A1222-AA40-E44A-1725-C436C401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66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0A562-D69A-9491-ACA9-ECC3C85DA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774C26-DE59-665E-D793-987AF3967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81E0F4-3882-7C57-4733-D83FB3EF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0BABBC-5558-4513-2FE2-7A69B083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6C34E-EEE0-21AE-7324-9B132C4E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E089DE-AB41-AE14-2C12-2F96854F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53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9C68F-1F10-8C4E-03EC-A9B7A7D3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6ED346-5935-CA81-5BE9-DC6E16B2B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CEAF01-BBC1-7C2D-4ACB-BF606D6B0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28B58B-419F-9FBC-2B02-AC95DF4F3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4151DF-1E59-7B92-C207-8FBC85ED8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4A81876-0665-FF6E-742B-CD83708F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9FD1CDA-64B1-411F-9192-9D519A9C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7FE7F3-B44C-610E-FF7C-44C2A3ED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799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9AE5A-2419-90B1-6F10-EF688CDA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73B326-B54C-BD8F-CF4E-D546E613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09B03D-5914-F384-697D-DA1AF6E1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C44552-6CCA-3D84-9FE0-8CDEBDB3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0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6E279F-E57C-DAB4-BEF6-596A1332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BF6923-72B0-CAA9-F4CA-624FC273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7FCEEE-E15E-0793-6353-C0A39BB2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12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D9252-A09A-388B-69A0-A8E618DA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440AC0-133A-3311-079B-CDE8085A7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6D88F-BFD5-3C5C-5A00-7F85D75C9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2CD593-0EB1-FBFF-55DE-249AD161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BD21EB-4715-6320-7424-0D7960F4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9DDC13-2696-F907-B03C-DD65F778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215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9757C-5C62-8975-4ADD-C3403880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61E6B7-4F7F-36B7-A7FA-CF80ADACA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68F6B9-7B8B-8015-6F2D-06F8AD8DB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7B8475-7B07-2D81-2F02-97CCC96A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C8635D-B96C-E3AA-15F3-E2970AA3C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BD21F6-804F-5293-4A3E-299A18B3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659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2C2CD-074D-3044-0215-89157CB9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DD21C3-8FED-DE9A-6D4F-FE92A12D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ACC343-2B24-D554-5153-164AEE3B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314AB6-E13D-373D-3461-E251E920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DD8561-84B6-4B06-A6EE-6B41CF5F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44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7E73388-4CBA-0292-F807-865E57534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D1FBE9-2978-8198-E61F-F7ACEC436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22C00-28BB-1763-0957-A5CD9488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B2BC42-A1CD-7CE8-908B-ACCF5DA5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765E83-51A6-2EE2-FFA2-A1B36C00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76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87F546B-0E4B-D79C-7859-8E9D15E1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CFE0FB-3D0F-FE90-6106-053DF949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DC55D4-7246-55F2-60EB-36C22EC19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3A331-D0A9-4674-B58C-488C950D4A4E}" type="datetimeFigureOut">
              <a:rPr lang="de-DE" smtClean="0"/>
              <a:t>16.01.2026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38C3C7-FC2E-8C1F-EB80-2DA37A85C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590AF-724B-4E0D-78BF-025E207F2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45279-F046-4C32-9DC1-F268B92FEE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62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descr="Ein Bild, das Cartoon, Text, Zeichnung, Clipart enthäl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8609" y="308442"/>
            <a:ext cx="4774781" cy="47747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/>
          <p:nvPr/>
        </p:nvSpPr>
        <p:spPr>
          <a:xfrm>
            <a:off x="553748" y="5472025"/>
            <a:ext cx="11084800" cy="99765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53601" y="5568023"/>
            <a:ext cx="1108479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3300"/>
            </a:pPr>
            <a:r>
              <a:rPr lang="de-DE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AIRBREAKS - EAGLE</a:t>
            </a:r>
            <a:endParaRPr sz="2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53600" y="6091203"/>
            <a:ext cx="11084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lt1"/>
              </a:buClr>
              <a:buSzPts val="1100"/>
            </a:pPr>
            <a:r>
              <a:rPr lang="de-DE" sz="1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January</a:t>
            </a:r>
            <a:r>
              <a:rPr lang="de-DE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2026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B1EB1F9-E63B-D167-52E6-71EAE5DE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69684"/>
            <a:ext cx="4114800" cy="365125"/>
          </a:xfrm>
        </p:spPr>
        <p:txBody>
          <a:bodyPr/>
          <a:lstStyle/>
          <a:p>
            <a:r>
              <a:rPr lang="de-DE" dirty="0"/>
              <a:t>Alle Rechte vorbehalten - Jason Gläser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627C490F-1173-4B8C-EDAB-2A26EE7DDD6A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E40F4577-9545-87E4-2740-4D28C30EC0A5}"/>
              </a:ext>
            </a:extLst>
          </p:cNvPr>
          <p:cNvSpPr txBox="1"/>
          <p:nvPr/>
        </p:nvSpPr>
        <p:spPr>
          <a:xfrm>
            <a:off x="470332" y="260940"/>
            <a:ext cx="10348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4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Table </a:t>
            </a:r>
            <a:r>
              <a:rPr lang="de-DE" sz="40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</a:t>
            </a:r>
            <a:r>
              <a:rPr lang="de-DE" sz="4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sz="40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contents</a:t>
            </a:r>
            <a:endParaRPr sz="4000" dirty="0"/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F95EC142-924D-5E69-2702-2F0E29D12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D25DBEA-973B-6506-DC54-75D029B8DED0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11B8A6A9-8107-8CC0-94A3-CDCF7710BD66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77C2265C-D74D-73F3-1A06-D256771B8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C605588C-574E-218C-2C3B-1B7EB4D2A5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77A39475-CDA1-36E7-B4ED-B3E22055467B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2081F73B-EE13-6FA7-A38B-077AFDF70E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3842F12E-CBAF-55DD-3F61-9798035DBCD9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F14FAD0-CFBE-9DDC-94F4-8C4D686B18E2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2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2D592EA3-7DD0-320E-AEC7-B1E959FC66EE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24B798F-9C75-2FB2-BC4D-216251BEA2A1}"/>
              </a:ext>
            </a:extLst>
          </p:cNvPr>
          <p:cNvSpPr txBox="1"/>
          <p:nvPr/>
        </p:nvSpPr>
        <p:spPr>
          <a:xfrm>
            <a:off x="470332" y="1340527"/>
            <a:ext cx="11087437" cy="336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>
                <a:latin typeface="Montserrat" panose="02000505000000020004" pitchFamily="2" charset="0"/>
              </a:rPr>
              <a:t>Motivation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 err="1">
                <a:latin typeface="Montserrat" panose="02000505000000020004" pitchFamily="2" charset="0"/>
              </a:rPr>
              <a:t>Requirements</a:t>
            </a:r>
            <a:endParaRPr lang="de-DE" dirty="0">
              <a:latin typeface="Montserrat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>
                <a:latin typeface="Montserrat" panose="02000505000000020004" pitchFamily="2" charset="0"/>
              </a:rPr>
              <a:t>Airbreaks v1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>
                <a:latin typeface="Montserrat" panose="02000505000000020004" pitchFamily="2" charset="0"/>
              </a:rPr>
              <a:t>Airbreaks v2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 err="1">
                <a:latin typeface="Montserrat" panose="02000505000000020004" pitchFamily="2" charset="0"/>
              </a:rPr>
              <a:t>Overview</a:t>
            </a:r>
            <a:endParaRPr lang="de-DE" dirty="0">
              <a:latin typeface="Montserrat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 err="1">
                <a:latin typeface="Montserrat" panose="02000505000000020004" pitchFamily="2" charset="0"/>
              </a:rPr>
              <a:t>Cost</a:t>
            </a:r>
            <a:r>
              <a:rPr lang="de-DE" dirty="0">
                <a:latin typeface="Montserrat" panose="02000505000000020004" pitchFamily="2" charset="0"/>
              </a:rPr>
              <a:t> </a:t>
            </a:r>
            <a:r>
              <a:rPr lang="de-DE" dirty="0" err="1">
                <a:latin typeface="Montserrat" panose="02000505000000020004" pitchFamily="2" charset="0"/>
              </a:rPr>
              <a:t>approximation</a:t>
            </a:r>
            <a:endParaRPr lang="de-DE" dirty="0">
              <a:latin typeface="Montserrat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 err="1">
                <a:latin typeface="Montserrat" panose="02000505000000020004" pitchFamily="2" charset="0"/>
              </a:rPr>
              <a:t>Current</a:t>
            </a:r>
            <a:r>
              <a:rPr lang="de-DE" dirty="0">
                <a:latin typeface="Montserrat" panose="02000505000000020004" pitchFamily="2" charset="0"/>
              </a:rPr>
              <a:t> </a:t>
            </a:r>
            <a:r>
              <a:rPr lang="de-DE" dirty="0" err="1">
                <a:latin typeface="Montserrat" panose="02000505000000020004" pitchFamily="2" charset="0"/>
              </a:rPr>
              <a:t>concerns</a:t>
            </a:r>
            <a:endParaRPr lang="de-DE" dirty="0">
              <a:latin typeface="Montserrat" panose="02000505000000020004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dirty="0" err="1">
                <a:latin typeface="Montserrat" panose="02000505000000020004" pitchFamily="2" charset="0"/>
              </a:rPr>
              <a:t>Prospects</a:t>
            </a:r>
            <a:endParaRPr lang="de-DE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48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B9F5-70A4-F82F-3AD0-FE17A459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B7D50619-CE60-F3CA-CAC1-4D5CC45B797E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2480E256-EE33-F5F8-7927-9FFF0823E24D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Motivation</a:t>
            </a:r>
            <a:endParaRPr lang="de-DE" sz="3600" dirty="0"/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310126BB-8F37-40B9-0593-00A943186A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A22E65F5-179D-DF3C-48E2-28EE4CEF755C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2FFDE28-5E29-2690-04E4-DEAFC91868FF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660B41A-7A61-96B5-D391-F6A9FBDED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8FC64E16-1178-793A-5C9D-34DB53020EF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2BFB0CFD-43B1-BE56-6E17-56FFD14A6585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0B68C944-28DE-18AB-FD29-FA11E876B7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7E570D63-AB66-1FB5-4D23-B616DBA3E678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FD9A98FF-463A-FB9A-5F66-46501E224F02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3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5640AA6A-D167-E03E-F0F8-39C04622CC0B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8808E524-8A8F-AADA-BD96-C764213682D1}"/>
              </a:ext>
            </a:extLst>
          </p:cNvPr>
          <p:cNvSpPr txBox="1"/>
          <p:nvPr/>
        </p:nvSpPr>
        <p:spPr>
          <a:xfrm>
            <a:off x="470332" y="1305017"/>
            <a:ext cx="11064883" cy="3282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More </a:t>
            </a:r>
            <a:r>
              <a:rPr lang="de-DE" sz="1600" dirty="0" err="1">
                <a:latin typeface="Montserrat" panose="02000505000000020004" pitchFamily="2" charset="0"/>
              </a:rPr>
              <a:t>point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more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accuarate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target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altitude</a:t>
            </a:r>
            <a:endParaRPr lang="de-DE" sz="1600" dirty="0">
              <a:latin typeface="Montserrat" panose="02000505000000020004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Simulations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motor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performance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inaccurate</a:t>
            </a:r>
            <a:r>
              <a:rPr lang="de-DE" sz="1600" dirty="0">
                <a:latin typeface="Montserrat" panose="02000505000000020004" pitchFamily="2" charset="0"/>
              </a:rPr>
              <a:t> and variable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Practically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no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chance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of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accurate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altitude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without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active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control</a:t>
            </a:r>
            <a:endParaRPr lang="de-DE" sz="1600" dirty="0">
              <a:latin typeface="Montserrat" panose="02000505000000020004" pitchFamily="2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Platform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to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learn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basics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of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aerodynamics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and GNC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Guidance</a:t>
            </a:r>
            <a:r>
              <a:rPr lang="de-DE" sz="1200" dirty="0">
                <a:latin typeface="Montserrat" panose="02000505000000020004" pitchFamily="2" charset="0"/>
              </a:rPr>
              <a:t>, Navigation and Control)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CFD-, FEM-,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Flightsimulations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and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control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engineering</a:t>
            </a:r>
            <a:endParaRPr lang="de-DE" sz="1600" dirty="0">
              <a:latin typeface="Montserrat" panose="02000505000000020004" pitchFamily="2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Possibility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to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learn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industry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practices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in GNC and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aerodynamics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(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Grid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fins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,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without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grid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)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Design in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collaboration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with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experts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600" dirty="0" err="1">
                <a:latin typeface="Montserrat" panose="02000505000000020004" pitchFamily="2" charset="0"/>
                <a:sym typeface="Wingdings" panose="05000000000000000000" pitchFamily="2" charset="2"/>
              </a:rPr>
              <a:t>from</a:t>
            </a:r>
            <a:r>
              <a:rPr lang="de-DE" sz="1600" dirty="0">
                <a:latin typeface="Montserrat" panose="02000505000000020004" pitchFamily="2" charset="0"/>
                <a:sym typeface="Wingdings" panose="05000000000000000000" pitchFamily="2" charset="2"/>
              </a:rPr>
              <a:t> Rocket Factory Augsburg 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(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purely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private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cooperation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so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far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, </a:t>
            </a:r>
            <a:r>
              <a:rPr lang="de-DE" sz="1200" b="1" dirty="0">
                <a:latin typeface="Montserrat" panose="02000505000000020004" pitchFamily="2" charset="0"/>
                <a:sym typeface="Wingdings" panose="05000000000000000000" pitchFamily="2" charset="2"/>
              </a:rPr>
              <a:t>NO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club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 </a:t>
            </a:r>
            <a:r>
              <a:rPr lang="de-DE" sz="1200" dirty="0" err="1">
                <a:latin typeface="Montserrat" panose="02000505000000020004" pitchFamily="2" charset="0"/>
                <a:sym typeface="Wingdings" panose="05000000000000000000" pitchFamily="2" charset="2"/>
              </a:rPr>
              <a:t>involvement</a:t>
            </a:r>
            <a:r>
              <a:rPr lang="de-DE" sz="1200" dirty="0">
                <a:latin typeface="Montserrat" panose="02000505000000020004" pitchFamily="2" charset="0"/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Advance </a:t>
            </a:r>
            <a:r>
              <a:rPr lang="de-DE" sz="1600" dirty="0" err="1">
                <a:latin typeface="Montserrat" panose="02000505000000020004" pitchFamily="2" charset="0"/>
              </a:rPr>
              <a:t>technology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can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increase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chance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admission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EUROC</a:t>
            </a:r>
          </a:p>
        </p:txBody>
      </p:sp>
    </p:spTree>
    <p:extLst>
      <p:ext uri="{BB962C8B-B14F-4D97-AF65-F5344CB8AC3E}">
        <p14:creationId xmlns:p14="http://schemas.microsoft.com/office/powerpoint/2010/main" val="428828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FE80-67DE-2174-63C6-668190DD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F8256813-4E2D-8286-3C25-6EC553932CCD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56D1447D-C3EC-D329-3B8E-DDA991EB1BF8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Requirements</a:t>
            </a:r>
            <a:endParaRPr lang="de-DE" sz="3600" dirty="0"/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5AB2CEA9-1497-FA04-42FB-3CD74EF781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3C18963-A3AF-529E-7E7C-39514116C843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EA3AA43-FBC0-A527-44FB-EB1EC46B2F40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4A3E9FE5-7D88-2F67-02DB-14637E080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80717E81-BF08-51C1-4320-8E773F99F6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DBFFC76C-7082-199C-9362-10372214B7A8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AD381C4E-B729-7F83-A259-5ABFE94359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F6BED947-83E6-F89C-AF0B-F9A4BF52C772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3BAE2966-04FE-6201-B504-56E3AFE60343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4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A0ABAFA4-5ADB-B0B1-4553-2EE4370B6390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27C9D359-2317-FD80-0B37-E6B514B8EF2A}"/>
              </a:ext>
            </a:extLst>
          </p:cNvPr>
          <p:cNvSpPr txBox="1"/>
          <p:nvPr/>
        </p:nvSpPr>
        <p:spPr>
          <a:xfrm>
            <a:off x="447778" y="1578608"/>
            <a:ext cx="110648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Symmetrical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behaviour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under</a:t>
            </a:r>
            <a:r>
              <a:rPr lang="de-DE" sz="1600" dirty="0">
                <a:latin typeface="Montserrat" panose="02000505000000020004" pitchFamily="2" charset="0"/>
              </a:rPr>
              <a:t> nominal </a:t>
            </a:r>
            <a:r>
              <a:rPr lang="de-DE" sz="1600" dirty="0" err="1">
                <a:latin typeface="Montserrat" panose="02000505000000020004" pitchFamily="2" charset="0"/>
              </a:rPr>
              <a:t>function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defects</a:t>
            </a:r>
            <a:endParaRPr lang="de-DE" sz="1600" dirty="0">
              <a:latin typeface="Montserrat" panose="02000505000000020004" pitchFamily="2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Control </a:t>
            </a:r>
            <a:r>
              <a:rPr lang="de-DE" sz="1600" dirty="0" err="1">
                <a:latin typeface="Montserrat" panose="02000505000000020004" pitchFamily="2" charset="0"/>
              </a:rPr>
              <a:t>using</a:t>
            </a:r>
            <a:r>
              <a:rPr lang="de-DE" sz="1600" dirty="0">
                <a:latin typeface="Montserrat" panose="02000505000000020004" pitchFamily="2" charset="0"/>
              </a:rPr>
              <a:t> a </a:t>
            </a:r>
            <a:r>
              <a:rPr lang="de-DE" sz="1600" dirty="0" err="1">
                <a:latin typeface="Montserrat" panose="02000505000000020004" pitchFamily="2" charset="0"/>
              </a:rPr>
              <a:t>single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servo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motor</a:t>
            </a:r>
            <a:r>
              <a:rPr lang="de-DE" sz="1600" dirty="0">
                <a:latin typeface="Montserrat" panose="02000505000000020004" pitchFamily="2" charset="0"/>
              </a:rPr>
              <a:t> in </a:t>
            </a:r>
            <a:r>
              <a:rPr lang="de-DE" sz="1600" dirty="0" err="1">
                <a:latin typeface="Montserrat" panose="02000505000000020004" pitchFamily="2" charset="0"/>
              </a:rPr>
              <a:t>the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center</a:t>
            </a:r>
            <a:endParaRPr lang="de-DE" sz="1600" dirty="0">
              <a:latin typeface="Montserrat" panose="02000505000000020004" pitchFamily="2" charset="0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Montserrat" panose="02000505000000020004" pitchFamily="2" charset="0"/>
              </a:rPr>
              <a:t>Only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requires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one</a:t>
            </a:r>
            <a:r>
              <a:rPr lang="de-DE" sz="1200" dirty="0">
                <a:latin typeface="Montserrat" panose="02000505000000020004" pitchFamily="2" charset="0"/>
              </a:rPr>
              <a:t> PWM-Signal -&gt; 3 </a:t>
            </a:r>
            <a:r>
              <a:rPr lang="de-DE" sz="1200" dirty="0" err="1">
                <a:latin typeface="Montserrat" panose="02000505000000020004" pitchFamily="2" charset="0"/>
              </a:rPr>
              <a:t>cabel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connections</a:t>
            </a:r>
            <a:r>
              <a:rPr lang="de-DE" sz="1200" dirty="0">
                <a:latin typeface="Montserrat" panose="02000505000000020004" pitchFamily="2" charset="0"/>
              </a:rPr>
              <a:t> in </a:t>
            </a:r>
            <a:r>
              <a:rPr lang="de-DE" sz="1200" dirty="0" err="1">
                <a:latin typeface="Montserrat" panose="02000505000000020004" pitchFamily="2" charset="0"/>
              </a:rPr>
              <a:t>segment</a:t>
            </a:r>
            <a:endParaRPr lang="de-DE" sz="1200" dirty="0">
              <a:latin typeface="Montserrat" panose="02000505000000020004" pitchFamily="2" charset="0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Montserrat" panose="02000505000000020004" pitchFamily="2" charset="0"/>
              </a:rPr>
              <a:t>If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Servo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fails</a:t>
            </a:r>
            <a:r>
              <a:rPr lang="de-DE" sz="1200" dirty="0">
                <a:latin typeface="Montserrat" panose="02000505000000020004" pitchFamily="2" charset="0"/>
              </a:rPr>
              <a:t>, </a:t>
            </a:r>
            <a:r>
              <a:rPr lang="de-DE" sz="1200" dirty="0" err="1">
                <a:latin typeface="Montserrat" panose="02000505000000020004" pitchFamily="2" charset="0"/>
              </a:rPr>
              <a:t>every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flap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fails</a:t>
            </a:r>
            <a:endParaRPr lang="de-DE" sz="1200" dirty="0">
              <a:latin typeface="Montserrat" panose="02000505000000020004" pitchFamily="2" charset="0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Montserrat" panose="02000505000000020004" pitchFamily="2" charset="0"/>
              </a:rPr>
              <a:t>Simulations</a:t>
            </a:r>
            <a:r>
              <a:rPr lang="de-DE" sz="1200" dirty="0">
                <a:latin typeface="Montserrat" panose="02000505000000020004" pitchFamily="2" charset="0"/>
              </a:rPr>
              <a:t> will </a:t>
            </a:r>
            <a:r>
              <a:rPr lang="de-DE" sz="1200" dirty="0" err="1">
                <a:latin typeface="Montserrat" panose="02000505000000020004" pitchFamily="2" charset="0"/>
              </a:rPr>
              <a:t>show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the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required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servo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torque</a:t>
            </a:r>
            <a:endParaRPr lang="de-DE" sz="1200" dirty="0">
              <a:latin typeface="Montserrat" panose="02000505000000020004" pitchFamily="2" charset="0"/>
            </a:endParaRPr>
          </a:p>
          <a:p>
            <a:pPr marL="1543050" lvl="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Rest </a:t>
            </a:r>
            <a:r>
              <a:rPr lang="de-DE" sz="1200" dirty="0" err="1">
                <a:latin typeface="Montserrat" panose="02000505000000020004" pitchFamily="2" charset="0"/>
              </a:rPr>
              <a:t>of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outer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structure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needed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for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simulations</a:t>
            </a:r>
            <a:endParaRPr lang="de-DE" sz="1200" dirty="0">
              <a:latin typeface="Montserrat" panose="02000505000000020004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Non-linear </a:t>
            </a:r>
            <a:r>
              <a:rPr lang="de-DE" sz="1600" dirty="0" err="1">
                <a:latin typeface="Montserrat" panose="02000505000000020004" pitchFamily="2" charset="0"/>
              </a:rPr>
              <a:t>change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effective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aerodynamic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area</a:t>
            </a:r>
            <a:endParaRPr lang="de-DE" sz="1600" dirty="0">
              <a:latin typeface="Montserrat" panose="02000505000000020004" pitchFamily="2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More </a:t>
            </a:r>
            <a:r>
              <a:rPr lang="de-DE" sz="1200" dirty="0" err="1">
                <a:latin typeface="Montserrat" panose="02000505000000020004" pitchFamily="2" charset="0"/>
              </a:rPr>
              <a:t>complex</a:t>
            </a:r>
            <a:r>
              <a:rPr lang="de-DE" sz="1200" dirty="0">
                <a:latin typeface="Montserrat" panose="02000505000000020004" pitchFamily="2" charset="0"/>
              </a:rPr>
              <a:t> and </a:t>
            </a:r>
            <a:r>
              <a:rPr lang="de-DE" sz="1200" dirty="0" err="1">
                <a:latin typeface="Montserrat" panose="02000505000000020004" pitchFamily="2" charset="0"/>
              </a:rPr>
              <a:t>mechanism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closer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grid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fins</a:t>
            </a:r>
            <a:r>
              <a:rPr lang="de-DE" sz="1200" dirty="0">
                <a:latin typeface="Montserrat" panose="02000505000000020004" pitchFamily="2" charset="0"/>
              </a:rPr>
              <a:t> possible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Bigger </a:t>
            </a:r>
            <a:r>
              <a:rPr lang="de-DE" sz="1200" dirty="0" err="1">
                <a:latin typeface="Montserrat" panose="02000505000000020004" pitchFamily="2" charset="0"/>
              </a:rPr>
              <a:t>learning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curve</a:t>
            </a:r>
            <a:endParaRPr lang="de-DE" sz="1200" dirty="0">
              <a:latin typeface="Montserrat" panose="02000505000000020004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Seperate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segment</a:t>
            </a:r>
            <a:endParaRPr lang="de-DE" sz="1600" dirty="0">
              <a:latin typeface="Montserrat" panose="02000505000000020004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Purely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mechanical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(</a:t>
            </a:r>
            <a:r>
              <a:rPr lang="de-DE" sz="1600" dirty="0" err="1">
                <a:latin typeface="Montserrat" panose="02000505000000020004" pitchFamily="2" charset="0"/>
              </a:rPr>
              <a:t>no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hydraulics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pneumatics</a:t>
            </a:r>
            <a:r>
              <a:rPr lang="de-DE" sz="1600" dirty="0">
                <a:latin typeface="Montserrat" panose="02000505000000020004" pitchFamily="2" charset="0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(</a:t>
            </a:r>
            <a:r>
              <a:rPr lang="de-DE" sz="1600" dirty="0" err="1">
                <a:latin typeface="Montserrat" panose="02000505000000020004" pitchFamily="2" charset="0"/>
              </a:rPr>
              <a:t>Mechanical</a:t>
            </a:r>
            <a:r>
              <a:rPr lang="de-DE" sz="1600" dirty="0">
                <a:latin typeface="Montserrat" panose="02000505000000020004" pitchFamily="2" charset="0"/>
              </a:rPr>
              <a:t>/</a:t>
            </a:r>
            <a:r>
              <a:rPr lang="de-DE" sz="1600" dirty="0" err="1">
                <a:latin typeface="Montserrat" panose="02000505000000020004" pitchFamily="2" charset="0"/>
              </a:rPr>
              <a:t>Eletrical</a:t>
            </a:r>
            <a:r>
              <a:rPr lang="de-DE" sz="1600" dirty="0">
                <a:latin typeface="Montserrat" panose="02000505000000020004" pitchFamily="2" charset="0"/>
              </a:rPr>
              <a:t>) </a:t>
            </a:r>
            <a:r>
              <a:rPr lang="de-DE" sz="1600" dirty="0" err="1">
                <a:latin typeface="Montserrat" panose="02000505000000020004" pitchFamily="2" charset="0"/>
              </a:rPr>
              <a:t>Locking-Mechanisms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flaps</a:t>
            </a:r>
            <a:endParaRPr lang="de-DE" sz="1600" dirty="0">
              <a:latin typeface="Montserrat" panose="02000505000000020004" pitchFamily="2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Prevent </a:t>
            </a:r>
            <a:r>
              <a:rPr lang="de-DE" sz="1600" dirty="0" err="1">
                <a:latin typeface="Montserrat" panose="02000505000000020004" pitchFamily="2" charset="0"/>
              </a:rPr>
              <a:t>actuation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flaps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before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certain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altitude</a:t>
            </a:r>
            <a:endParaRPr lang="de-DE" sz="1600" dirty="0">
              <a:latin typeface="Montserrat" panose="02000505000000020004" pitchFamily="2" charset="0"/>
            </a:endParaRP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Part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EUROC‘s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rules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requirements</a:t>
            </a:r>
            <a:endParaRPr lang="de-DE" sz="1600" dirty="0">
              <a:latin typeface="Montserrat" panose="02000505000000020004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Resting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position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0°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to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body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tube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Max. </a:t>
            </a:r>
            <a:r>
              <a:rPr lang="de-DE" sz="1600" dirty="0" err="1">
                <a:latin typeface="Montserrat" panose="02000505000000020004" pitchFamily="2" charset="0"/>
              </a:rPr>
              <a:t>position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90°</a:t>
            </a:r>
          </a:p>
        </p:txBody>
      </p:sp>
    </p:spTree>
    <p:extLst>
      <p:ext uri="{BB962C8B-B14F-4D97-AF65-F5344CB8AC3E}">
        <p14:creationId xmlns:p14="http://schemas.microsoft.com/office/powerpoint/2010/main" val="423225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BD5E-F158-2C36-6B5F-F1F3D48C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7F884107-9BD7-4B91-9C94-E2012DD1943F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37EC085C-9682-F7C5-B8B1-13A94BC1AFF3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Airbreaks v1 (1/2)</a:t>
            </a: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015DB93B-B2D4-226F-B9CB-91C5211160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6B4ED47-9204-4A77-C50A-19330AE5C3CA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1E60956-F93A-0012-22D7-812A2BEE7701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30DEE799-A238-69AF-4F34-88E86187E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6E1625A7-E7ED-0D27-3E2A-87FDB16C2B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CE1AD687-9CF3-6606-4321-8BCFA5CA0C1F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5FB0E31E-F10B-3D32-72E1-D967B53C28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16039495-DDDD-7E3B-9EEE-37A73212600F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64A02EFB-F96D-264B-57ED-86DBA5D835FC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5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E461BC13-02E3-2DD2-B037-6BB31DCB281B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75A769C7-B09B-21EC-F102-90C4A08A3D84}"/>
              </a:ext>
            </a:extLst>
          </p:cNvPr>
          <p:cNvSpPr txBox="1"/>
          <p:nvPr/>
        </p:nvSpPr>
        <p:spPr>
          <a:xfrm>
            <a:off x="509842" y="1127417"/>
            <a:ext cx="65656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Created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together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with</a:t>
            </a:r>
            <a:r>
              <a:rPr lang="de-DE" sz="1400" dirty="0">
                <a:latin typeface="Montserrat" panose="02000505000000020004" pitchFamily="2" charset="0"/>
              </a:rPr>
              <a:t> Vincent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Uses</a:t>
            </a:r>
            <a:r>
              <a:rPr lang="de-DE" sz="1400" dirty="0">
                <a:latin typeface="Montserrat" panose="02000505000000020004" pitchFamily="2" charset="0"/>
              </a:rPr>
              <a:t> same </a:t>
            </a:r>
            <a:r>
              <a:rPr lang="de-DE" sz="1400" dirty="0" err="1">
                <a:latin typeface="Montserrat" panose="02000505000000020004" pitchFamily="2" charset="0"/>
              </a:rPr>
              <a:t>working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principal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as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piston</a:t>
            </a:r>
            <a:endParaRPr lang="de-DE" sz="14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Montserrat" panose="02000505000000020004" pitchFamily="2" charset="0"/>
              </a:rPr>
              <a:t>Components </a:t>
            </a:r>
            <a:r>
              <a:rPr lang="de-DE" sz="1400" dirty="0" err="1">
                <a:latin typeface="Montserrat" panose="02000505000000020004" pitchFamily="2" charset="0"/>
              </a:rPr>
              <a:t>are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glued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to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the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inside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of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the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body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tube</a:t>
            </a:r>
            <a:endParaRPr lang="de-DE" sz="14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Montserrat" panose="02000505000000020004" pitchFamily="2" charset="0"/>
              </a:rPr>
              <a:t>A </a:t>
            </a:r>
            <a:r>
              <a:rPr lang="de-DE" sz="1400" dirty="0" err="1">
                <a:latin typeface="Montserrat" panose="02000505000000020004" pitchFamily="2" charset="0"/>
              </a:rPr>
              <a:t>lot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of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component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are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assembeled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before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being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glued</a:t>
            </a:r>
            <a:r>
              <a:rPr lang="de-DE" sz="1400" dirty="0">
                <a:latin typeface="Montserrat" panose="02000505000000020004" pitchFamily="2" charset="0"/>
              </a:rPr>
              <a:t> in</a:t>
            </a:r>
            <a:endParaRPr lang="de-DE" sz="1600" dirty="0">
              <a:latin typeface="Montserrat" panose="02000505000000020004" pitchFamily="2" charset="0"/>
            </a:endParaRPr>
          </a:p>
          <a:p>
            <a:r>
              <a:rPr lang="de-DE" sz="1600" b="1" dirty="0">
                <a:latin typeface="Montserrat" panose="02000505000000020004" pitchFamily="2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Low </a:t>
            </a:r>
            <a:r>
              <a:rPr lang="de-DE" sz="1600" dirty="0" err="1">
                <a:latin typeface="Montserrat" panose="02000505000000020004" pitchFamily="2" charset="0"/>
              </a:rPr>
              <a:t>complexity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No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fasteners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needed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assembly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Mostly</a:t>
            </a:r>
            <a:r>
              <a:rPr lang="de-DE" sz="1600" dirty="0">
                <a:latin typeface="Montserrat" panose="02000505000000020004" pitchFamily="2" charset="0"/>
              </a:rPr>
              <a:t> 3d-printable</a:t>
            </a:r>
          </a:p>
          <a:p>
            <a:endParaRPr lang="de-DE" sz="1600" dirty="0">
              <a:latin typeface="Montserrat" panose="02000505000000020004" pitchFamily="2" charset="0"/>
            </a:endParaRPr>
          </a:p>
          <a:p>
            <a:r>
              <a:rPr lang="de-DE" sz="1600" b="1" dirty="0" err="1">
                <a:latin typeface="Montserrat" panose="02000505000000020004" pitchFamily="2" charset="0"/>
              </a:rPr>
              <a:t>Disadvantages</a:t>
            </a:r>
            <a:r>
              <a:rPr lang="de-DE" sz="1600" b="1" dirty="0">
                <a:latin typeface="Montserrat" panose="02000505000000020004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Not </a:t>
            </a:r>
            <a:r>
              <a:rPr lang="de-DE" sz="1600" dirty="0" err="1">
                <a:latin typeface="Montserrat" panose="02000505000000020004" pitchFamily="2" charset="0"/>
              </a:rPr>
              <a:t>really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repairable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If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glue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gets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moving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everything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has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„</a:t>
            </a:r>
            <a:r>
              <a:rPr lang="de-DE" sz="1600" dirty="0" err="1">
                <a:latin typeface="Montserrat" panose="02000505000000020004" pitchFamily="2" charset="0"/>
              </a:rPr>
              <a:t>destroyed</a:t>
            </a:r>
            <a:r>
              <a:rPr lang="de-DE" sz="1600" dirty="0">
                <a:latin typeface="Montserrat" panose="02000505000000020004" pitchFamily="2" charset="0"/>
              </a:rPr>
              <a:t>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Glue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has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proven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inconsistent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with</a:t>
            </a:r>
            <a:r>
              <a:rPr lang="de-DE" sz="1600" dirty="0">
                <a:latin typeface="Montserrat" panose="02000505000000020004" pitchFamily="2" charset="0"/>
              </a:rPr>
              <a:t> 3D-printed </a:t>
            </a:r>
            <a:r>
              <a:rPr lang="de-DE" sz="1600" dirty="0" err="1">
                <a:latin typeface="Montserrat" panose="02000505000000020004" pitchFamily="2" charset="0"/>
              </a:rPr>
              <a:t>surfaces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Limited </a:t>
            </a:r>
            <a:r>
              <a:rPr lang="de-DE" sz="1600" dirty="0" err="1">
                <a:latin typeface="Montserrat" panose="02000505000000020004" pitchFamily="2" charset="0"/>
              </a:rPr>
              <a:t>actuation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distance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Low </a:t>
            </a:r>
            <a:r>
              <a:rPr lang="de-DE" sz="1600" dirty="0" err="1">
                <a:latin typeface="Montserrat" panose="02000505000000020004" pitchFamily="2" charset="0"/>
              </a:rPr>
              <a:t>drag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range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Potentially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metal</a:t>
            </a:r>
            <a:r>
              <a:rPr lang="de-DE" sz="1600" dirty="0">
                <a:latin typeface="Montserrat" panose="02000505000000020004" pitchFamily="2" charset="0"/>
              </a:rPr>
              <a:t> on </a:t>
            </a:r>
            <a:r>
              <a:rPr lang="de-DE" sz="1600" dirty="0" err="1">
                <a:latin typeface="Montserrat" panose="02000505000000020004" pitchFamily="2" charset="0"/>
              </a:rPr>
              <a:t>metal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grinding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Large </a:t>
            </a:r>
            <a:r>
              <a:rPr lang="de-DE" sz="1600" dirty="0" err="1">
                <a:latin typeface="Montserrat" panose="02000505000000020004" pitchFamily="2" charset="0"/>
              </a:rPr>
              <a:t>cutouts</a:t>
            </a:r>
            <a:r>
              <a:rPr lang="de-DE" sz="1600" dirty="0">
                <a:latin typeface="Montserrat" panose="02000505000000020004" pitchFamily="2" charset="0"/>
              </a:rPr>
              <a:t> in CFK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with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small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effective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area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b="1" dirty="0">
                <a:latin typeface="Montserrat" panose="02000505000000020004" pitchFamily="2" charset="0"/>
              </a:rPr>
              <a:t>VERY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bad</a:t>
            </a:r>
            <a:r>
              <a:rPr lang="de-DE" sz="1600" dirty="0">
                <a:latin typeface="Montserrat" panose="02000505000000020004" pitchFamily="2" charset="0"/>
              </a:rPr>
              <a:t> -&gt; </a:t>
            </a:r>
            <a:r>
              <a:rPr lang="de-DE" sz="1600" dirty="0" err="1">
                <a:latin typeface="Montserrat" panose="02000505000000020004" pitchFamily="2" charset="0"/>
              </a:rPr>
              <a:t>probably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would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have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structural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issues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Body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can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probably</a:t>
            </a:r>
            <a:r>
              <a:rPr lang="de-DE" sz="1600" dirty="0">
                <a:latin typeface="Montserrat" panose="02000505000000020004" pitchFamily="2" charset="0"/>
              </a:rPr>
              <a:t> not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produced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ourselves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dirty="0">
              <a:latin typeface="Montserrat" panose="02000505000000020004" pitchFamily="2" charset="0"/>
            </a:endParaRPr>
          </a:p>
        </p:txBody>
      </p:sp>
      <p:pic>
        <p:nvPicPr>
          <p:cNvPr id="12" name="Grafik 11" descr="Ein Bild, das Kompass enthält.&#10;&#10;KI-generierte Inhalte können fehlerhaft sein.">
            <a:extLst>
              <a:ext uri="{FF2B5EF4-FFF2-40B4-BE49-F238E27FC236}">
                <a16:creationId xmlns:a16="http://schemas.microsoft.com/office/drawing/2014/main" id="{4ADE4BD5-5DFE-EAB6-4DF3-0BBCA2AF2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310" y="1097519"/>
            <a:ext cx="2243275" cy="242890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DAE8ADD9-FE3C-1AE6-FA17-FBED056B7EAE}"/>
              </a:ext>
            </a:extLst>
          </p:cNvPr>
          <p:cNvSpPr txBox="1"/>
          <p:nvPr/>
        </p:nvSpPr>
        <p:spPr>
          <a:xfrm>
            <a:off x="8501291" y="3563767"/>
            <a:ext cx="2039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Montserrat" panose="02000505000000020004" pitchFamily="2" charset="0"/>
              </a:rPr>
              <a:t>Airbreaks v1 </a:t>
            </a:r>
            <a:r>
              <a:rPr lang="de-DE" sz="1200" dirty="0" err="1">
                <a:latin typeface="Montserrat" panose="02000505000000020004" pitchFamily="2" charset="0"/>
              </a:rPr>
              <a:t>closed</a:t>
            </a:r>
            <a:endParaRPr lang="de-DE" sz="1200" dirty="0">
              <a:latin typeface="Montserrat" panose="02000505000000020004" pitchFamily="2" charset="0"/>
            </a:endParaRPr>
          </a:p>
        </p:txBody>
      </p:sp>
      <p:pic>
        <p:nvPicPr>
          <p:cNvPr id="15" name="Grafik 14" descr="Ein Bild, das Boden enthält.&#10;&#10;KI-generierte Inhalte können fehlerhaft sein.">
            <a:extLst>
              <a:ext uri="{FF2B5EF4-FFF2-40B4-BE49-F238E27FC236}">
                <a16:creationId xmlns:a16="http://schemas.microsoft.com/office/drawing/2014/main" id="{2A047CCB-EC59-5838-F1EF-49D4D6BE2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8073" y="3823106"/>
            <a:ext cx="1882530" cy="2113381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6FCCF55-6F6F-A82F-C59D-A142A58AE4CF}"/>
              </a:ext>
            </a:extLst>
          </p:cNvPr>
          <p:cNvSpPr txBox="1"/>
          <p:nvPr/>
        </p:nvSpPr>
        <p:spPr>
          <a:xfrm>
            <a:off x="8579682" y="6010050"/>
            <a:ext cx="2039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Montserrat" panose="02000505000000020004" pitchFamily="2" charset="0"/>
              </a:rPr>
              <a:t>Airbreaks v1 </a:t>
            </a:r>
            <a:r>
              <a:rPr lang="de-DE" sz="1200" dirty="0" err="1">
                <a:latin typeface="Montserrat" panose="02000505000000020004" pitchFamily="2" charset="0"/>
              </a:rPr>
              <a:t>extended</a:t>
            </a:r>
            <a:endParaRPr lang="de-DE" sz="1200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50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327BE-EBFB-11F9-9200-71A2BBD2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9890D18A-722C-42B0-C564-81447955E219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C8642CD1-D69B-A25C-3512-851637B6C314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Airbreaks v1 (2/2)</a:t>
            </a: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D2E92401-7A0E-1C4D-4DA1-EDF4E76B68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5A1D13C-6534-FC9A-08EF-3ED963702EF9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AE5791-0BDE-7F15-EAC2-31D13571BF42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C023EF70-1B86-2AFE-B38C-4D283E633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D6BD655E-BB37-785F-30D1-CEDB78628C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5128D5E9-0C77-0316-B2E0-60781FC26A28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D725F992-4ABE-A6A7-BB01-C558A489E9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02D9BB46-577C-1FF4-EADD-75B9DA7D3928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24F6657-1FFF-F288-4A99-70C9398BBA18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6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E0D6A6AF-2533-F6BD-0D37-EECB8DD22EB5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 descr="Ein Bild, das Boden enthält.&#10;&#10;KI-generierte Inhalte können fehlerhaft sein.">
            <a:extLst>
              <a:ext uri="{FF2B5EF4-FFF2-40B4-BE49-F238E27FC236}">
                <a16:creationId xmlns:a16="http://schemas.microsoft.com/office/drawing/2014/main" id="{C50A6E3B-3653-CF1C-A4AC-BED1A944E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915" y="1747594"/>
            <a:ext cx="3482315" cy="390934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CE7859A-4A66-53AB-DF79-15F02273C1F6}"/>
              </a:ext>
            </a:extLst>
          </p:cNvPr>
          <p:cNvSpPr txBox="1"/>
          <p:nvPr/>
        </p:nvSpPr>
        <p:spPr>
          <a:xfrm>
            <a:off x="470332" y="1260629"/>
            <a:ext cx="632996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1600" b="1" dirty="0">
                <a:latin typeface="Montserrat" panose="02000505000000020004" pitchFamily="2" charset="0"/>
              </a:rPr>
              <a:t>Bill </a:t>
            </a:r>
            <a:r>
              <a:rPr lang="de-DE" sz="1600" b="1" dirty="0" err="1">
                <a:latin typeface="Montserrat" panose="02000505000000020004" pitchFamily="2" charset="0"/>
              </a:rPr>
              <a:t>of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materials</a:t>
            </a:r>
            <a:r>
              <a:rPr lang="de-DE" sz="1600" b="1" dirty="0">
                <a:latin typeface="Montserrat" panose="02000505000000020004" pitchFamily="2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Airbreaksegment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(20 cm CFK </a:t>
            </a:r>
            <a:r>
              <a:rPr lang="de-DE" sz="1200" dirty="0" err="1">
                <a:latin typeface="Montserrat" panose="02000505000000020004" pitchFamily="2" charset="0"/>
              </a:rPr>
              <a:t>body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tube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Airbreak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servo</a:t>
            </a:r>
            <a:r>
              <a:rPr lang="de-DE" sz="1600" dirty="0">
                <a:latin typeface="Montserrat" panose="02000505000000020004" pitchFamily="2" charset="0"/>
              </a:rPr>
              <a:t> mount </a:t>
            </a:r>
            <a:r>
              <a:rPr lang="de-DE" sz="1200" dirty="0">
                <a:latin typeface="Montserrat" panose="02000505000000020004" pitchFamily="2" charset="0"/>
              </a:rPr>
              <a:t>(large </a:t>
            </a:r>
            <a:r>
              <a:rPr lang="de-DE" sz="1200" dirty="0" err="1">
                <a:latin typeface="Montserrat" panose="02000505000000020004" pitchFamily="2" charset="0"/>
              </a:rPr>
              <a:t>middle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piece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Servo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including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for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mounting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screws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Servo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cross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</a:t>
            </a:r>
            <a:r>
              <a:rPr lang="de-DE" sz="1600" dirty="0" err="1">
                <a:latin typeface="Montserrat" panose="02000505000000020004" pitchFamily="2" charset="0"/>
              </a:rPr>
              <a:t>Connecting-rod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small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rod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that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connects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servo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cross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8x </a:t>
            </a:r>
            <a:r>
              <a:rPr lang="de-DE" sz="1600" dirty="0" err="1">
                <a:latin typeface="Montserrat" panose="02000505000000020004" pitchFamily="2" charset="0"/>
              </a:rPr>
              <a:t>Pushing-rod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bearing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</a:t>
            </a:r>
            <a:r>
              <a:rPr lang="de-DE" sz="1600" dirty="0" err="1">
                <a:latin typeface="Montserrat" panose="02000505000000020004" pitchFamily="2" charset="0"/>
              </a:rPr>
              <a:t>Pushing-rod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Joint </a:t>
            </a:r>
            <a:r>
              <a:rPr lang="de-DE" sz="1600" dirty="0" err="1">
                <a:latin typeface="Montserrat" panose="02000505000000020004" pitchFamily="2" charset="0"/>
              </a:rPr>
              <a:t>adapter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connecting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pushing</a:t>
            </a:r>
            <a:r>
              <a:rPr lang="de-DE" sz="1200" dirty="0">
                <a:latin typeface="Montserrat" panose="02000505000000020004" pitchFamily="2" charset="0"/>
              </a:rPr>
              <a:t> and </a:t>
            </a:r>
            <a:r>
              <a:rPr lang="de-DE" sz="1200" dirty="0" err="1">
                <a:latin typeface="Montserrat" panose="02000505000000020004" pitchFamily="2" charset="0"/>
              </a:rPr>
              <a:t>connecting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rod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8x Hinge </a:t>
            </a:r>
            <a:r>
              <a:rPr lang="de-DE" sz="1600" dirty="0" err="1">
                <a:latin typeface="Montserrat" panose="02000505000000020004" pitchFamily="2" charset="0"/>
              </a:rPr>
              <a:t>bearing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connector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point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for</a:t>
            </a:r>
            <a:r>
              <a:rPr lang="de-DE" sz="1200" dirty="0">
                <a:latin typeface="Montserrat" panose="02000505000000020004" pitchFamily="2" charset="0"/>
              </a:rPr>
              <a:t> hinge-</a:t>
            </a:r>
            <a:r>
              <a:rPr lang="de-DE" sz="1200" dirty="0" err="1">
                <a:latin typeface="Montserrat" panose="02000505000000020004" pitchFamily="2" charset="0"/>
              </a:rPr>
              <a:t>rod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Flaps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Hinge-</a:t>
            </a:r>
            <a:r>
              <a:rPr lang="de-DE" sz="1600" dirty="0" err="1">
                <a:latin typeface="Montserrat" panose="02000505000000020004" pitchFamily="2" charset="0"/>
              </a:rPr>
              <a:t>rod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</a:t>
            </a:r>
            <a:r>
              <a:rPr lang="de-DE" sz="1600" dirty="0" err="1">
                <a:latin typeface="Montserrat" panose="02000505000000020004" pitchFamily="2" charset="0"/>
              </a:rPr>
              <a:t>Pushing-rod</a:t>
            </a:r>
            <a:r>
              <a:rPr lang="de-DE" sz="1600" dirty="0">
                <a:latin typeface="Montserrat" panose="02000505000000020004" pitchFamily="2" charset="0"/>
              </a:rPr>
              <a:t> mount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connector</a:t>
            </a:r>
            <a:r>
              <a:rPr lang="de-DE" sz="1200" dirty="0">
                <a:latin typeface="Montserrat" panose="02000505000000020004" pitchFamily="2" charset="0"/>
              </a:rPr>
              <a:t> on </a:t>
            </a:r>
            <a:r>
              <a:rPr lang="de-DE" sz="1200" dirty="0" err="1">
                <a:latin typeface="Montserrat" panose="02000505000000020004" pitchFamily="2" charset="0"/>
              </a:rPr>
              <a:t>the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inside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of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flap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600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60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673E-0C75-2E69-D6FB-3E8AE398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21E90503-CC83-F3F4-C2E3-D10277E1709C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0A2AF985-4500-5BD7-3034-3948D5089F67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Airbreaks v2 (1/2)</a:t>
            </a: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D8E00FE8-05B1-C21C-260E-9A6C3260CE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5A2DBB7-356A-7D57-1AEC-C4CD847D0C98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FA11656-A4A5-1DD8-A07B-52A3FE246214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684BE44A-08BD-B9B7-D68E-A550657C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C7050DCD-BD9E-541E-3106-38AA4D7E341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A0F97013-959B-87C1-382D-86E2E088E218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AAE84009-9E19-BF57-C529-F80F14927C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8B377CDD-2CC0-DF98-1F0F-48C01F76BE54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698C1EFC-5162-950C-20DA-71DF97645F21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7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10D52C2D-48BD-4D76-60EA-C23963B23BAB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E4C1FC25-CAC9-1066-7247-6ACF8AC49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1430" y="1089568"/>
            <a:ext cx="2296485" cy="228289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16EA13B-146E-AF8C-3DD1-D89851621C4B}"/>
              </a:ext>
            </a:extLst>
          </p:cNvPr>
          <p:cNvSpPr txBox="1"/>
          <p:nvPr/>
        </p:nvSpPr>
        <p:spPr>
          <a:xfrm>
            <a:off x="9010016" y="3383368"/>
            <a:ext cx="2039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Montserrat" panose="02000505000000020004" pitchFamily="2" charset="0"/>
              </a:rPr>
              <a:t>Airbreaks v2 </a:t>
            </a:r>
            <a:r>
              <a:rPr lang="de-DE" sz="1200" dirty="0" err="1">
                <a:latin typeface="Montserrat" panose="02000505000000020004" pitchFamily="2" charset="0"/>
              </a:rPr>
              <a:t>closed</a:t>
            </a:r>
            <a:endParaRPr lang="de-DE" sz="1200" dirty="0">
              <a:latin typeface="Montserrat" panose="02000505000000020004" pitchFamily="2" charset="0"/>
            </a:endParaRPr>
          </a:p>
        </p:txBody>
      </p:sp>
      <p:pic>
        <p:nvPicPr>
          <p:cNvPr id="12" name="Grafik 11" descr="Ein Bild, das Screenshot, 3D-Modellierung enthält.&#10;&#10;KI-generierte Inhalte können fehlerhaft sein.">
            <a:extLst>
              <a:ext uri="{FF2B5EF4-FFF2-40B4-BE49-F238E27FC236}">
                <a16:creationId xmlns:a16="http://schemas.microsoft.com/office/drawing/2014/main" id="{7A1463C1-BECA-2C8B-6323-57872EA6A2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9822" y="3660367"/>
            <a:ext cx="2846311" cy="220777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A4CA712D-F8D3-3E9C-959D-E28AA34B4CFB}"/>
              </a:ext>
            </a:extLst>
          </p:cNvPr>
          <p:cNvSpPr txBox="1"/>
          <p:nvPr/>
        </p:nvSpPr>
        <p:spPr>
          <a:xfrm>
            <a:off x="8973321" y="5868140"/>
            <a:ext cx="2039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Montserrat" panose="02000505000000020004" pitchFamily="2" charset="0"/>
              </a:rPr>
              <a:t>Airbreaks v2 fully </a:t>
            </a:r>
            <a:r>
              <a:rPr lang="de-DE" sz="1200" dirty="0" err="1">
                <a:latin typeface="Montserrat" panose="02000505000000020004" pitchFamily="2" charset="0"/>
              </a:rPr>
              <a:t>extended</a:t>
            </a:r>
            <a:endParaRPr lang="de-DE" sz="1200" dirty="0">
              <a:latin typeface="Montserrat" panose="02000505000000020004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A97755B-1D02-21D6-2E17-880338BED93B}"/>
              </a:ext>
            </a:extLst>
          </p:cNvPr>
          <p:cNvSpPr txBox="1"/>
          <p:nvPr/>
        </p:nvSpPr>
        <p:spPr>
          <a:xfrm>
            <a:off x="447778" y="1083006"/>
            <a:ext cx="58150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Only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employs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gears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mechanism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Can fully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taken</a:t>
            </a:r>
            <a:r>
              <a:rPr lang="de-DE" sz="1600" dirty="0">
                <a:latin typeface="Montserrat" panose="02000505000000020004" pitchFamily="2" charset="0"/>
              </a:rPr>
              <a:t> apart and </a:t>
            </a:r>
            <a:r>
              <a:rPr lang="de-DE" sz="1600" dirty="0" err="1">
                <a:latin typeface="Montserrat" panose="02000505000000020004" pitchFamily="2" charset="0"/>
              </a:rPr>
              <a:t>reassembeled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losening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fasteners</a:t>
            </a:r>
            <a:r>
              <a:rPr lang="de-DE" sz="1600" dirty="0">
                <a:latin typeface="Montserrat" panose="02000505000000020004" pitchFamily="2" charset="0"/>
              </a:rPr>
              <a:t>/</a:t>
            </a:r>
            <a:r>
              <a:rPr lang="de-DE" sz="1600" dirty="0" err="1">
                <a:latin typeface="Montserrat" panose="02000505000000020004" pitchFamily="2" charset="0"/>
              </a:rPr>
              <a:t>screws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Inner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structure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connects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connector</a:t>
            </a:r>
            <a:r>
              <a:rPr lang="de-DE" sz="1600" dirty="0">
                <a:latin typeface="Montserrat" panose="02000505000000020004" pitchFamily="2" charset="0"/>
              </a:rPr>
              <a:t> 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Reduces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load</a:t>
            </a:r>
            <a:r>
              <a:rPr lang="de-DE" sz="1600" dirty="0">
                <a:latin typeface="Montserrat" panose="02000505000000020004" pitchFamily="2" charset="0"/>
              </a:rPr>
              <a:t> on </a:t>
            </a:r>
            <a:r>
              <a:rPr lang="de-DE" sz="1600" dirty="0" err="1">
                <a:latin typeface="Montserrat" panose="02000505000000020004" pitchFamily="2" charset="0"/>
              </a:rPr>
              <a:t>compromised</a:t>
            </a:r>
            <a:r>
              <a:rPr lang="de-DE" sz="1600" dirty="0">
                <a:latin typeface="Montserrat" panose="02000505000000020004" pitchFamily="2" charset="0"/>
              </a:rPr>
              <a:t> CFK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Flap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size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b="1" dirty="0">
                <a:latin typeface="Montserrat" panose="02000505000000020004" pitchFamily="2" charset="0"/>
              </a:rPr>
              <a:t>NOT</a:t>
            </a:r>
            <a:r>
              <a:rPr lang="de-DE" sz="1600" dirty="0">
                <a:latin typeface="Montserrat" panose="02000505000000020004" pitchFamily="2" charset="0"/>
              </a:rPr>
              <a:t> final</a:t>
            </a:r>
          </a:p>
          <a:p>
            <a:endParaRPr lang="de-DE" sz="1600" dirty="0">
              <a:latin typeface="Montserrat" panose="02000505000000020004" pitchFamily="2" charset="0"/>
            </a:endParaRPr>
          </a:p>
          <a:p>
            <a:r>
              <a:rPr lang="de-DE" sz="1600" b="1" dirty="0">
                <a:latin typeface="Montserrat" panose="02000505000000020004" pitchFamily="2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Extendable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Drastically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reduces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cutouts</a:t>
            </a:r>
            <a:r>
              <a:rPr lang="de-DE" sz="1600" dirty="0">
                <a:latin typeface="Montserrat" panose="02000505000000020004" pitchFamily="2" charset="0"/>
              </a:rPr>
              <a:t> in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Moving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more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sustainable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high </a:t>
            </a:r>
            <a:r>
              <a:rPr lang="de-DE" sz="1600" dirty="0" err="1">
                <a:latin typeface="Montserrat" panose="02000505000000020004" pitchFamily="2" charset="0"/>
              </a:rPr>
              <a:t>loads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Bigger </a:t>
            </a:r>
            <a:r>
              <a:rPr lang="de-DE" sz="1600" dirty="0" err="1">
                <a:latin typeface="Montserrat" panose="02000505000000020004" pitchFamily="2" charset="0"/>
              </a:rPr>
              <a:t>diameters</a:t>
            </a:r>
            <a:r>
              <a:rPr lang="de-DE" sz="1600" dirty="0">
                <a:latin typeface="Montserrat" panose="02000505000000020004" pitchFamily="2" charset="0"/>
              </a:rPr>
              <a:t>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Had </a:t>
            </a:r>
            <a:r>
              <a:rPr lang="de-DE" sz="1600" dirty="0" err="1">
                <a:latin typeface="Montserrat" panose="02000505000000020004" pitchFamily="2" charset="0"/>
              </a:rPr>
              <a:t>dedicated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inner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structural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element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Can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assembeled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disambeled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needed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Aerocovers </a:t>
            </a:r>
            <a:r>
              <a:rPr lang="de-DE" sz="1600" dirty="0" err="1">
                <a:latin typeface="Montserrat" panose="02000505000000020004" pitchFamily="2" charset="0"/>
              </a:rPr>
              <a:t>can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used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for</a:t>
            </a:r>
            <a:r>
              <a:rPr lang="de-DE" sz="1600" dirty="0">
                <a:latin typeface="Montserrat" panose="02000505000000020004" pitchFamily="2" charset="0"/>
              </a:rPr>
              <a:t> down-</a:t>
            </a:r>
            <a:r>
              <a:rPr lang="de-DE" sz="1600" dirty="0" err="1">
                <a:latin typeface="Montserrat" panose="02000505000000020004" pitchFamily="2" charset="0"/>
              </a:rPr>
              <a:t>facing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cameras</a:t>
            </a:r>
            <a:endParaRPr lang="de-DE" sz="1600" dirty="0">
              <a:latin typeface="Montserrat" panose="02000505000000020004" pitchFamily="2" charset="0"/>
            </a:endParaRPr>
          </a:p>
          <a:p>
            <a:r>
              <a:rPr lang="de-DE" sz="1600" b="1" dirty="0" err="1">
                <a:latin typeface="Montserrat" panose="02000505000000020004" pitchFamily="2" charset="0"/>
              </a:rPr>
              <a:t>Disadvantages</a:t>
            </a:r>
            <a:r>
              <a:rPr lang="de-DE" sz="1600" b="1" dirty="0">
                <a:latin typeface="Montserrat" panose="02000505000000020004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More </a:t>
            </a:r>
            <a:r>
              <a:rPr lang="de-DE" sz="1600" dirty="0" err="1">
                <a:latin typeface="Montserrat" panose="02000505000000020004" pitchFamily="2" charset="0"/>
              </a:rPr>
              <a:t>complex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More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Most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need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manufactured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made</a:t>
            </a:r>
            <a:r>
              <a:rPr lang="de-DE" sz="1600" dirty="0">
                <a:latin typeface="Montserrat" panose="02000505000000020004" pitchFamily="2" charset="0"/>
              </a:rPr>
              <a:t> out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metal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Requires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outside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endParaRPr lang="de-DE" sz="1600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33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FD55-8FA0-50FC-E44E-11D43CF7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C583D442-9EC1-7487-0059-939B3D2DEEAE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1370C2E2-055C-5811-B7D9-5AA2509EC24E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Airbreaks v2 (2/2)</a:t>
            </a: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96148946-54CD-7E98-05E9-C586656C9C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2EB6E36-E982-693D-184B-0D24F95B09ED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2F22E9C-EF38-AC38-E9F8-3592DA81BE43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D9C12B4-E595-4F42-CA9F-C9741A6A6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785460B9-5773-2A81-B284-C519EA0560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941E74CB-7BE6-1258-1954-C2A069451469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FDD57B3-0680-9C21-3CA8-75EAA9E900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2755DB20-6F17-D246-FC5A-0645ADA84497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41BE4F8-6EBA-6855-8BFA-01054B5EFD26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8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173C172F-4C61-8E2D-B01D-ED9FF86398A2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 descr="Ein Bild, das Screenshot, 3D-Modellierung enthält.&#10;&#10;KI-generierte Inhalte können fehlerhaft sein.">
            <a:extLst>
              <a:ext uri="{FF2B5EF4-FFF2-40B4-BE49-F238E27FC236}">
                <a16:creationId xmlns:a16="http://schemas.microsoft.com/office/drawing/2014/main" id="{5D176970-4D07-7D5C-8C1C-90BA4E32D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549" y="1834297"/>
            <a:ext cx="5080436" cy="3940697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1C469640-055E-79A1-17B7-FADEA38687A7}"/>
              </a:ext>
            </a:extLst>
          </p:cNvPr>
          <p:cNvSpPr txBox="1"/>
          <p:nvPr/>
        </p:nvSpPr>
        <p:spPr>
          <a:xfrm>
            <a:off x="447778" y="1083006"/>
            <a:ext cx="581505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latin typeface="Montserrat" panose="02000505000000020004" pitchFamily="2" charset="0"/>
              </a:rPr>
              <a:t>Bill </a:t>
            </a:r>
            <a:r>
              <a:rPr lang="de-DE" sz="1600" b="1" dirty="0" err="1">
                <a:latin typeface="Montserrat" panose="02000505000000020004" pitchFamily="2" charset="0"/>
              </a:rPr>
              <a:t>of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materials</a:t>
            </a:r>
            <a:r>
              <a:rPr lang="de-DE" sz="1600" b="1" dirty="0">
                <a:latin typeface="Montserrat" panose="02000505000000020004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Servo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CFK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(20 cm)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</a:t>
            </a:r>
            <a:r>
              <a:rPr lang="de-DE" sz="1600" dirty="0" err="1">
                <a:latin typeface="Montserrat" panose="02000505000000020004" pitchFamily="2" charset="0"/>
              </a:rPr>
              <a:t>Inner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supporting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structure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blue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part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Main frame </a:t>
            </a:r>
            <a:r>
              <a:rPr lang="de-DE" sz="1200" dirty="0" err="1">
                <a:latin typeface="Montserrat" panose="02000505000000020004" pitchFamily="2" charset="0"/>
              </a:rPr>
              <a:t>machined</a:t>
            </a:r>
            <a:r>
              <a:rPr lang="de-DE" sz="1200" dirty="0">
                <a:latin typeface="Montserrat" panose="02000505000000020004" pitchFamily="2" charset="0"/>
              </a:rPr>
              <a:t> out </a:t>
            </a:r>
            <a:r>
              <a:rPr lang="de-DE" sz="1200" dirty="0" err="1">
                <a:latin typeface="Montserrat" panose="02000505000000020004" pitchFamily="2" charset="0"/>
              </a:rPr>
              <a:t>of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aluminum</a:t>
            </a:r>
            <a:endParaRPr lang="de-DE" sz="12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Right hinge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green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part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Can </a:t>
            </a:r>
            <a:r>
              <a:rPr lang="de-DE" sz="1200" dirty="0" err="1">
                <a:latin typeface="Montserrat" panose="02000505000000020004" pitchFamily="2" charset="0"/>
              </a:rPr>
              <a:t>maybe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be</a:t>
            </a:r>
            <a:r>
              <a:rPr lang="de-DE" sz="1200" dirty="0">
                <a:latin typeface="Montserrat" panose="02000505000000020004" pitchFamily="2" charset="0"/>
              </a:rPr>
              <a:t> printed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</a:t>
            </a:r>
            <a:r>
              <a:rPr lang="de-DE" sz="1600" dirty="0" err="1">
                <a:latin typeface="Montserrat" panose="02000505000000020004" pitchFamily="2" charset="0"/>
              </a:rPr>
              <a:t>Left</a:t>
            </a:r>
            <a:r>
              <a:rPr lang="de-DE" sz="1600" dirty="0">
                <a:latin typeface="Montserrat" panose="02000505000000020004" pitchFamily="2" charset="0"/>
              </a:rPr>
              <a:t> hinge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yellow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part</a:t>
            </a:r>
            <a:r>
              <a:rPr lang="de-DE" sz="1200" dirty="0">
                <a:latin typeface="Montserrat" panose="02000505000000020004" pitchFamily="2" charset="0"/>
              </a:rPr>
              <a:t> on </a:t>
            </a:r>
            <a:r>
              <a:rPr lang="de-DE" sz="1200" dirty="0" err="1">
                <a:latin typeface="Montserrat" panose="02000505000000020004" pitchFamily="2" charset="0"/>
              </a:rPr>
              <a:t>inner</a:t>
            </a:r>
            <a:r>
              <a:rPr lang="de-DE" sz="1200" dirty="0">
                <a:latin typeface="Montserrat" panose="02000505000000020004" pitchFamily="2" charset="0"/>
              </a:rPr>
              <a:t> wall)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Can </a:t>
            </a:r>
            <a:r>
              <a:rPr lang="de-DE" sz="1200" dirty="0" err="1">
                <a:latin typeface="Montserrat" panose="02000505000000020004" pitchFamily="2" charset="0"/>
              </a:rPr>
              <a:t>maybe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be</a:t>
            </a:r>
            <a:r>
              <a:rPr lang="de-DE" sz="1200" dirty="0">
                <a:latin typeface="Montserrat" panose="02000505000000020004" pitchFamily="2" charset="0"/>
              </a:rPr>
              <a:t> printed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Transmission </a:t>
            </a:r>
            <a:r>
              <a:rPr lang="de-DE" sz="1600" dirty="0" err="1">
                <a:latin typeface="Montserrat" panose="02000505000000020004" pitchFamily="2" charset="0"/>
              </a:rPr>
              <a:t>rod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yellow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rod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Montserrat" panose="02000505000000020004" pitchFamily="2" charset="0"/>
              </a:rPr>
              <a:t>Machined</a:t>
            </a:r>
            <a:r>
              <a:rPr lang="de-DE" sz="1200" dirty="0">
                <a:latin typeface="Montserrat" panose="02000505000000020004" pitchFamily="2" charset="0"/>
              </a:rPr>
              <a:t> out </a:t>
            </a:r>
            <a:r>
              <a:rPr lang="de-DE" sz="1200" dirty="0" err="1">
                <a:latin typeface="Montserrat" panose="02000505000000020004" pitchFamily="2" charset="0"/>
              </a:rPr>
              <a:t>of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aluminum</a:t>
            </a:r>
            <a:endParaRPr lang="de-DE" sz="12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</a:t>
            </a:r>
            <a:r>
              <a:rPr lang="de-DE" sz="1600" dirty="0" err="1">
                <a:latin typeface="Montserrat" panose="02000505000000020004" pitchFamily="2" charset="0"/>
              </a:rPr>
              <a:t>Aerodynamical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cover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red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part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Can </a:t>
            </a:r>
            <a:r>
              <a:rPr lang="de-DE" sz="1200" dirty="0" err="1">
                <a:latin typeface="Montserrat" panose="02000505000000020004" pitchFamily="2" charset="0"/>
              </a:rPr>
              <a:t>maybe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be</a:t>
            </a:r>
            <a:r>
              <a:rPr lang="de-DE" sz="1200" dirty="0">
                <a:latin typeface="Montserrat" panose="02000505000000020004" pitchFamily="2" charset="0"/>
              </a:rPr>
              <a:t> printed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Flaps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white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part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Montserrat" panose="02000505000000020004" pitchFamily="2" charset="0"/>
              </a:rPr>
              <a:t>Machined</a:t>
            </a:r>
            <a:r>
              <a:rPr lang="de-DE" sz="1200" dirty="0">
                <a:latin typeface="Montserrat" panose="02000505000000020004" pitchFamily="2" charset="0"/>
              </a:rPr>
              <a:t> out </a:t>
            </a:r>
            <a:r>
              <a:rPr lang="de-DE" sz="1200" dirty="0" err="1">
                <a:latin typeface="Montserrat" panose="02000505000000020004" pitchFamily="2" charset="0"/>
              </a:rPr>
              <a:t>of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aluminum</a:t>
            </a:r>
            <a:endParaRPr lang="de-DE" sz="1200" dirty="0">
              <a:latin typeface="Montserrat" panose="02000505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12x </a:t>
            </a:r>
            <a:r>
              <a:rPr lang="de-DE" sz="1600" dirty="0" err="1">
                <a:latin typeface="Montserrat" panose="02000505000000020004" pitchFamily="2" charset="0"/>
              </a:rPr>
              <a:t>Miter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gear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maybe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helical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1x Bigger </a:t>
            </a:r>
            <a:r>
              <a:rPr lang="de-DE" sz="1600" dirty="0" err="1">
                <a:latin typeface="Montserrat" panose="02000505000000020004" pitchFamily="2" charset="0"/>
              </a:rPr>
              <a:t>Miter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gear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4x ball </a:t>
            </a:r>
            <a:r>
              <a:rPr lang="de-DE" sz="1600" dirty="0" err="1">
                <a:latin typeface="Montserrat" panose="02000505000000020004" pitchFamily="2" charset="0"/>
              </a:rPr>
              <a:t>bearings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(not in CAD-model)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Screws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fasteners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>
                <a:latin typeface="Montserrat" panose="02000505000000020004" pitchFamily="2" charset="0"/>
              </a:rPr>
              <a:t>COTS</a:t>
            </a:r>
          </a:p>
        </p:txBody>
      </p:sp>
    </p:spTree>
    <p:extLst>
      <p:ext uri="{BB962C8B-B14F-4D97-AF65-F5344CB8AC3E}">
        <p14:creationId xmlns:p14="http://schemas.microsoft.com/office/powerpoint/2010/main" val="264543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5420-BBBE-D0C2-D044-416B069C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F688B84D-875D-88F4-9055-815DC2FE3085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478C0FCD-FA00-550A-51F9-503FE1B1A9D3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lang="de-DE" sz="3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8E4DF321-1332-4233-AD9A-802FB31A80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E11E95C-9C5F-5883-95FD-A66E7257ADFD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B0FDED3-D86A-FCF2-B92C-6DD116C228E6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5E59F69C-A491-C664-6042-348364D21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B7CFA255-65D7-4609-D476-1C94B45EE3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A269BA42-84C5-BEDC-9C97-4FA195D75289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BA07625-6E89-8885-E7C3-DA71C147C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1640FA1F-A657-19D8-13EC-A9E14A5EC57F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929E8CA-EDB5-8575-30C6-959AC52A00C3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9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C4D3C691-8273-B7B2-3087-72D167057BD0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 descr="Ein Bild, das Screenshot, 3D-Modellierung enthält.&#10;&#10;KI-generierte Inhalte können fehlerhaft sein.">
            <a:extLst>
              <a:ext uri="{FF2B5EF4-FFF2-40B4-BE49-F238E27FC236}">
                <a16:creationId xmlns:a16="http://schemas.microsoft.com/office/drawing/2014/main" id="{AD6B1B14-06FC-C147-5E46-E7A54F1DC2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830" y="1677718"/>
            <a:ext cx="5080436" cy="3940697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286BB77-70CD-7F71-1D8D-634554DD4832}"/>
              </a:ext>
            </a:extLst>
          </p:cNvPr>
          <p:cNvSpPr txBox="1"/>
          <p:nvPr/>
        </p:nvSpPr>
        <p:spPr>
          <a:xfrm>
            <a:off x="447778" y="1278865"/>
            <a:ext cx="581505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>
                <a:latin typeface="Montserrat" panose="02000505000000020004" pitchFamily="2" charset="0"/>
              </a:rPr>
              <a:t>Minimum Height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without</a:t>
            </a:r>
            <a:r>
              <a:rPr lang="de-DE" sz="1200" dirty="0">
                <a:latin typeface="Montserrat" panose="02000505000000020004" pitchFamily="2" charset="0"/>
              </a:rPr>
              <a:t> ring </a:t>
            </a:r>
            <a:r>
              <a:rPr lang="de-DE" sz="1200" dirty="0" err="1">
                <a:latin typeface="Montserrat" panose="02000505000000020004" pitchFamily="2" charset="0"/>
              </a:rPr>
              <a:t>connection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150 mm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 err="1">
                <a:latin typeface="Montserrat" panose="02000505000000020004" pitchFamily="2" charset="0"/>
              </a:rPr>
              <a:t>Assumed</a:t>
            </a:r>
            <a:r>
              <a:rPr lang="de-DE" sz="1600" b="1" dirty="0">
                <a:latin typeface="Montserrat" panose="02000505000000020004" pitchFamily="2" charset="0"/>
              </a:rPr>
              <a:t> wall </a:t>
            </a:r>
            <a:r>
              <a:rPr lang="de-DE" sz="1600" b="1" dirty="0" err="1">
                <a:latin typeface="Montserrat" panose="02000505000000020004" pitchFamily="2" charset="0"/>
              </a:rPr>
              <a:t>strength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3 mm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 err="1">
                <a:latin typeface="Montserrat" panose="02000505000000020004" pitchFamily="2" charset="0"/>
              </a:rPr>
              <a:t>Aprox</a:t>
            </a:r>
            <a:r>
              <a:rPr lang="de-DE" sz="1600" b="1" dirty="0">
                <a:latin typeface="Montserrat" panose="02000505000000020004" pitchFamily="2" charset="0"/>
              </a:rPr>
              <a:t>. </a:t>
            </a:r>
            <a:r>
              <a:rPr lang="de-DE" sz="1600" b="1" dirty="0" err="1">
                <a:latin typeface="Montserrat" panose="02000505000000020004" pitchFamily="2" charset="0"/>
              </a:rPr>
              <a:t>Weight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1.7 kg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Depending</a:t>
            </a:r>
            <a:r>
              <a:rPr lang="de-DE" sz="1600" dirty="0">
                <a:latin typeface="Montserrat" panose="02000505000000020004" pitchFamily="2" charset="0"/>
              </a:rPr>
              <a:t> on </a:t>
            </a:r>
            <a:r>
              <a:rPr lang="de-DE" sz="1600" dirty="0" err="1">
                <a:latin typeface="Montserrat" panose="02000505000000020004" pitchFamily="2" charset="0"/>
              </a:rPr>
              <a:t>how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much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machined</a:t>
            </a:r>
            <a:endParaRPr lang="de-DE" sz="16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>
                <a:latin typeface="Montserrat" panose="02000505000000020004" pitchFamily="2" charset="0"/>
              </a:rPr>
              <a:t>Max. </a:t>
            </a:r>
            <a:r>
              <a:rPr lang="de-DE" sz="1600" b="1" dirty="0" err="1">
                <a:latin typeface="Montserrat" panose="02000505000000020004" pitchFamily="2" charset="0"/>
              </a:rPr>
              <a:t>flap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area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27 cm²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 err="1">
                <a:latin typeface="Montserrat" panose="02000505000000020004" pitchFamily="2" charset="0"/>
              </a:rPr>
              <a:t>Amount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of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parts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excluding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screws</a:t>
            </a:r>
            <a:r>
              <a:rPr lang="de-DE" sz="1200" dirty="0">
                <a:latin typeface="Montserrat" panose="02000505000000020004" pitchFamily="2" charset="0"/>
              </a:rPr>
              <a:t>): </a:t>
            </a:r>
            <a:r>
              <a:rPr lang="de-DE" sz="1600" dirty="0">
                <a:latin typeface="Montserrat" panose="02000505000000020004" pitchFamily="2" charset="0"/>
              </a:rPr>
              <a:t>40 </a:t>
            </a:r>
            <a:r>
              <a:rPr lang="de-DE" sz="1600" dirty="0" err="1">
                <a:latin typeface="Montserrat" panose="02000505000000020004" pitchFamily="2" charset="0"/>
              </a:rPr>
              <a:t>components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latin typeface="Montserrat" panose="02000505000000020004" pitchFamily="2" charset="0"/>
              </a:rPr>
              <a:t>Max. 21 </a:t>
            </a:r>
            <a:r>
              <a:rPr lang="de-DE" sz="1400" dirty="0" err="1">
                <a:latin typeface="Montserrat" panose="02000505000000020004" pitchFamily="2" charset="0"/>
              </a:rPr>
              <a:t>need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machining</a:t>
            </a:r>
            <a:r>
              <a:rPr lang="de-DE" sz="1400" dirty="0">
                <a:latin typeface="Montserrat" panose="02000505000000020004" pitchFamily="2" charset="0"/>
              </a:rPr>
              <a:t> (6 </a:t>
            </a:r>
            <a:r>
              <a:rPr lang="de-DE" sz="1400" dirty="0" err="1">
                <a:latin typeface="Montserrat" panose="02000505000000020004" pitchFamily="2" charset="0"/>
              </a:rPr>
              <a:t>seperate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component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types</a:t>
            </a:r>
            <a:r>
              <a:rPr lang="de-DE" sz="1400" dirty="0">
                <a:latin typeface="Montserrat" panose="02000505000000020004" pitchFamily="2" charset="0"/>
              </a:rPr>
              <a:t>) -&gt; </a:t>
            </a:r>
            <a:r>
              <a:rPr lang="de-DE" sz="1400" dirty="0" err="1">
                <a:latin typeface="Montserrat" panose="02000505000000020004" pitchFamily="2" charset="0"/>
              </a:rPr>
              <a:t>might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only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be</a:t>
            </a:r>
            <a:r>
              <a:rPr lang="de-DE" sz="1400" dirty="0">
                <a:latin typeface="Montserrat" panose="02000505000000020004" pitchFamily="2" charset="0"/>
              </a:rPr>
              <a:t> 3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Pushing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rod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can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be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manufactured</a:t>
            </a:r>
            <a:r>
              <a:rPr lang="de-DE" sz="1400" dirty="0">
                <a:latin typeface="Montserrat" panose="02000505000000020004" pitchFamily="2" charset="0"/>
              </a:rPr>
              <a:t> at THM (</a:t>
            </a:r>
            <a:r>
              <a:rPr lang="de-DE" sz="1400" dirty="0" err="1">
                <a:latin typeface="Montserrat" panose="02000505000000020004" pitchFamily="2" charset="0"/>
              </a:rPr>
              <a:t>very</a:t>
            </a:r>
            <a:r>
              <a:rPr lang="de-DE" sz="1400" dirty="0">
                <a:latin typeface="Montserrat" panose="02000505000000020004" pitchFamily="2" charset="0"/>
              </a:rPr>
              <a:t> simple </a:t>
            </a:r>
            <a:r>
              <a:rPr lang="de-DE" sz="1400" dirty="0" err="1">
                <a:latin typeface="Montserrat" panose="02000505000000020004" pitchFamily="2" charset="0"/>
              </a:rPr>
              <a:t>part</a:t>
            </a:r>
            <a:r>
              <a:rPr lang="de-DE" sz="1400" dirty="0">
                <a:latin typeface="Montserrat" panose="02000505000000020004" pitchFamily="2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>
                <a:latin typeface="Montserrat" panose="02000505000000020004" pitchFamily="2" charset="0"/>
              </a:rPr>
              <a:t>Range </a:t>
            </a:r>
            <a:r>
              <a:rPr lang="de-DE" sz="1600" b="1" dirty="0" err="1">
                <a:latin typeface="Montserrat" panose="02000505000000020004" pitchFamily="2" charset="0"/>
              </a:rPr>
              <a:t>of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motion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(in </a:t>
            </a:r>
            <a:r>
              <a:rPr lang="de-DE" sz="1200" dirty="0" err="1">
                <a:latin typeface="Montserrat" panose="02000505000000020004" pitchFamily="2" charset="0"/>
              </a:rPr>
              <a:t>regards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to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body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tube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0-90°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 err="1">
                <a:latin typeface="Montserrat" panose="02000505000000020004" pitchFamily="2" charset="0"/>
              </a:rPr>
              <a:t>Electrical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600" b="1" dirty="0" err="1">
                <a:latin typeface="Montserrat" panose="02000505000000020004" pitchFamily="2" charset="0"/>
              </a:rPr>
              <a:t>connections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3 (1x PWM, 1x GND, 1x VCC)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b="1" dirty="0">
                <a:latin typeface="Montserrat" panose="02000505000000020004" pitchFamily="2" charset="0"/>
              </a:rPr>
              <a:t>Power </a:t>
            </a:r>
            <a:r>
              <a:rPr lang="de-DE" sz="1600" b="1" dirty="0" err="1">
                <a:latin typeface="Montserrat" panose="02000505000000020004" pitchFamily="2" charset="0"/>
              </a:rPr>
              <a:t>consumption</a:t>
            </a:r>
            <a:r>
              <a:rPr lang="de-DE" sz="1600" b="1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max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  <a:r>
              <a:rPr lang="de-DE" sz="1600" b="1" dirty="0">
                <a:latin typeface="Montserrat" panose="02000505000000020004" pitchFamily="2" charset="0"/>
              </a:rPr>
              <a:t>: </a:t>
            </a:r>
            <a:r>
              <a:rPr lang="de-DE" sz="1600" dirty="0">
                <a:latin typeface="Montserrat" panose="02000505000000020004" pitchFamily="2" charset="0"/>
              </a:rPr>
              <a:t>8.2 V (2.5 A), 20.5 W</a:t>
            </a:r>
            <a:endParaRPr lang="de-DE" sz="1600" b="1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sz="1600" b="1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86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E2EE-858D-1D8C-3CE8-69458D03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989DD36D-FB5A-B974-3A73-D3B291F8C2E8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F2ADDED9-2723-8587-3EC8-5D977BE7FFF9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Cost</a:t>
            </a: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approximation</a:t>
            </a:r>
            <a:endParaRPr lang="de-DE" sz="3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E2B70296-8F3A-414C-715D-453053C11C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05A5AE19-104E-98DD-FA63-47044BCD8515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2C4155B-B940-BD08-336B-4F9A959C990D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D79E15D-C598-EEE0-DF2C-6C8E0F707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8DC53541-96E6-DDCF-6DC7-DFE24257380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84DD5484-B1F9-2690-F357-F37145AA24C8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0602DC1-5532-C778-FF6F-4925BE298E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7DE81C02-6C9C-53F8-BAB6-7C0A5BB74F89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1DE01DE-A9D6-FB04-6963-1E5AD3A1CA71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10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/12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46008980-0D75-A479-5417-9AC555D867AF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00AA0E7-8FC1-1ECE-3C2B-A711A1B9E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580509"/>
              </p:ext>
            </p:extLst>
          </p:nvPr>
        </p:nvGraphicFramePr>
        <p:xfrm>
          <a:off x="470331" y="1278865"/>
          <a:ext cx="1116829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074">
                  <a:extLst>
                    <a:ext uri="{9D8B030D-6E8A-4147-A177-3AD203B41FA5}">
                      <a16:colId xmlns:a16="http://schemas.microsoft.com/office/drawing/2014/main" val="587111278"/>
                    </a:ext>
                  </a:extLst>
                </a:gridCol>
                <a:gridCol w="2792074">
                  <a:extLst>
                    <a:ext uri="{9D8B030D-6E8A-4147-A177-3AD203B41FA5}">
                      <a16:colId xmlns:a16="http://schemas.microsoft.com/office/drawing/2014/main" val="3234963946"/>
                    </a:ext>
                  </a:extLst>
                </a:gridCol>
                <a:gridCol w="2792074">
                  <a:extLst>
                    <a:ext uri="{9D8B030D-6E8A-4147-A177-3AD203B41FA5}">
                      <a16:colId xmlns:a16="http://schemas.microsoft.com/office/drawing/2014/main" val="2560039179"/>
                    </a:ext>
                  </a:extLst>
                </a:gridCol>
                <a:gridCol w="2792074">
                  <a:extLst>
                    <a:ext uri="{9D8B030D-6E8A-4147-A177-3AD203B41FA5}">
                      <a16:colId xmlns:a16="http://schemas.microsoft.com/office/drawing/2014/main" val="4144764848"/>
                    </a:ext>
                  </a:extLst>
                </a:gridCol>
              </a:tblGrid>
              <a:tr h="338345">
                <a:tc>
                  <a:txBody>
                    <a:bodyPr/>
                    <a:lstStyle/>
                    <a:p>
                      <a:r>
                        <a:rPr lang="de-DE" sz="2000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Part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 err="1">
                          <a:latin typeface="Montserrat" panose="02000505000000020004" pitchFamily="2" charset="0"/>
                        </a:rPr>
                        <a:t>Quantity</a:t>
                      </a:r>
                      <a:r>
                        <a:rPr lang="de-DE" sz="20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200" b="0" dirty="0">
                          <a:latin typeface="Montserrat" panose="02000505000000020004" pitchFamily="2" charset="0"/>
                        </a:rPr>
                        <a:t>(min.)</a:t>
                      </a:r>
                      <a:endParaRPr lang="de-DE" sz="12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Montserrat" panose="02000505000000020004" pitchFamily="2" charset="0"/>
                        </a:rPr>
                        <a:t>Total Price </a:t>
                      </a:r>
                      <a:r>
                        <a:rPr lang="de-DE" sz="1200" b="0" dirty="0">
                          <a:latin typeface="Montserrat" panose="02000505000000020004" pitchFamily="2" charset="0"/>
                        </a:rPr>
                        <a:t>(</a:t>
                      </a:r>
                      <a:r>
                        <a:rPr lang="de-DE" sz="1200" b="0" dirty="0" err="1">
                          <a:latin typeface="Montserrat" panose="02000505000000020004" pitchFamily="2" charset="0"/>
                        </a:rPr>
                        <a:t>worst</a:t>
                      </a:r>
                      <a:r>
                        <a:rPr lang="de-DE" sz="1200" b="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200" b="0" dirty="0" err="1">
                          <a:latin typeface="Montserrat" panose="02000505000000020004" pitchFamily="2" charset="0"/>
                        </a:rPr>
                        <a:t>case</a:t>
                      </a:r>
                      <a:r>
                        <a:rPr lang="de-DE" sz="1200" b="0" dirty="0">
                          <a:latin typeface="Montserrat" panose="02000505000000020004" pitchFamily="2" charset="0"/>
                        </a:rPr>
                        <a:t>*)</a:t>
                      </a:r>
                      <a:endParaRPr lang="de-DE" sz="12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000" dirty="0">
                          <a:latin typeface="Montserrat" panose="02000505000000020004" pitchFamily="2" charset="0"/>
                        </a:rPr>
                        <a:t>Source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53383"/>
                  </a:ext>
                </a:extLst>
              </a:tr>
              <a:tr h="442452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Servo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69 € (UVP)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MKS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Servo-tech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200" dirty="0">
                          <a:latin typeface="Montserrat" panose="02000505000000020004" pitchFamily="2" charset="0"/>
                        </a:rPr>
                        <a:t>(</a:t>
                      </a:r>
                      <a:r>
                        <a:rPr lang="de-DE" sz="1200" dirty="0" err="1">
                          <a:latin typeface="Montserrat" panose="02000505000000020004" pitchFamily="2" charset="0"/>
                        </a:rPr>
                        <a:t>manufacturer</a:t>
                      </a:r>
                      <a:r>
                        <a:rPr lang="de-DE" sz="1200" dirty="0">
                          <a:latin typeface="Montserrat" panose="02000505000000020004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829562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CFK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body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tube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N/A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Structures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team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406571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Supporting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structure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~156 €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JLCCNC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789319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Hinges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**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~212 €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JLCCNC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598640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Transmission Rod**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~61 €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JLCCNC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3179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Aero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cover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**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~83 €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JLCCNC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106399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Flaps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~106 €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JLCCNC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849837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Miter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gears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~340 €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McMaster-Carr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698578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Bearings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~20 €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Kugellager-Express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208257"/>
                  </a:ext>
                </a:extLst>
              </a:tr>
              <a:tr h="316657">
                <a:tc>
                  <a:txBody>
                    <a:bodyPr/>
                    <a:lstStyle/>
                    <a:p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Fasteners</a:t>
                      </a:r>
                      <a:r>
                        <a:rPr lang="de-DE" sz="1600" dirty="0">
                          <a:latin typeface="Montserrat" panose="02000505000000020004" pitchFamily="2" charset="0"/>
                        </a:rPr>
                        <a:t> and </a:t>
                      </a:r>
                      <a:r>
                        <a:rPr lang="de-DE" sz="1600" dirty="0" err="1">
                          <a:latin typeface="Montserrat" panose="02000505000000020004" pitchFamily="2" charset="0"/>
                        </a:rPr>
                        <a:t>Screws</a:t>
                      </a:r>
                      <a:endParaRPr lang="de-DE" sz="1600" dirty="0"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N/A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~20 €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Montserrat" panose="02000505000000020004" pitchFamily="2" charset="0"/>
                        </a:rPr>
                        <a:t>N/A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995718"/>
                  </a:ext>
                </a:extLst>
              </a:tr>
              <a:tr h="390398">
                <a:tc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Total </a:t>
                      </a:r>
                      <a:r>
                        <a:rPr lang="de-DE" sz="2400" b="1" dirty="0" err="1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cost</a:t>
                      </a:r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800" b="0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(max.)</a:t>
                      </a:r>
                      <a:endParaRPr lang="de-DE" sz="1800" b="1" dirty="0">
                        <a:solidFill>
                          <a:schemeClr val="bg1"/>
                        </a:solidFill>
                        <a:latin typeface="Montserrat" panose="02000505000000020004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1067 €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Total </a:t>
                      </a:r>
                      <a:r>
                        <a:rPr lang="de-DE" sz="2400" b="1" dirty="0" err="1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cost</a:t>
                      </a:r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 </a:t>
                      </a:r>
                      <a:r>
                        <a:rPr lang="de-DE" sz="1800" b="0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(min.)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400" b="1" dirty="0">
                          <a:solidFill>
                            <a:schemeClr val="bg1"/>
                          </a:solidFill>
                          <a:latin typeface="Montserrat" panose="02000505000000020004" pitchFamily="2" charset="0"/>
                        </a:rPr>
                        <a:t>711 €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135738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F88C79A3-20F0-0F13-4083-C6473C66C8AB}"/>
              </a:ext>
            </a:extLst>
          </p:cNvPr>
          <p:cNvSpPr txBox="1"/>
          <p:nvPr/>
        </p:nvSpPr>
        <p:spPr>
          <a:xfrm>
            <a:off x="362305" y="6018115"/>
            <a:ext cx="362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Montserrat" panose="02000505000000020004" pitchFamily="2" charset="0"/>
              </a:rPr>
              <a:t>*</a:t>
            </a:r>
            <a:r>
              <a:rPr lang="de-DE" sz="800" dirty="0" err="1">
                <a:latin typeface="Montserrat" panose="02000505000000020004" pitchFamily="2" charset="0"/>
              </a:rPr>
              <a:t>Worst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case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assuming</a:t>
            </a:r>
            <a:r>
              <a:rPr lang="de-DE" sz="800" dirty="0">
                <a:latin typeface="Montserrat" panose="02000505000000020004" pitchFamily="2" charset="0"/>
              </a:rPr>
              <a:t> all </a:t>
            </a:r>
            <a:r>
              <a:rPr lang="de-DE" sz="800" dirty="0" err="1">
                <a:latin typeface="Montserrat" panose="02000505000000020004" pitchFamily="2" charset="0"/>
              </a:rPr>
              <a:t>parts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are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machined</a:t>
            </a:r>
            <a:endParaRPr lang="de-DE" sz="800" dirty="0">
              <a:latin typeface="Montserrat" panose="02000505000000020004" pitchFamily="2" charset="0"/>
            </a:endParaRPr>
          </a:p>
          <a:p>
            <a:r>
              <a:rPr lang="de-DE" sz="800" dirty="0">
                <a:latin typeface="Montserrat" panose="02000505000000020004" pitchFamily="2" charset="0"/>
              </a:rPr>
              <a:t>**</a:t>
            </a:r>
            <a:r>
              <a:rPr lang="de-DE" sz="800" dirty="0" err="1">
                <a:latin typeface="Montserrat" panose="02000505000000020004" pitchFamily="2" charset="0"/>
              </a:rPr>
              <a:t>Could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be</a:t>
            </a:r>
            <a:r>
              <a:rPr lang="de-DE" sz="800" dirty="0">
                <a:latin typeface="Montserrat" panose="02000505000000020004" pitchFamily="2" charset="0"/>
              </a:rPr>
              <a:t> 3D-printed </a:t>
            </a:r>
            <a:r>
              <a:rPr lang="de-DE" sz="800" dirty="0" err="1">
                <a:latin typeface="Montserrat" panose="02000505000000020004" pitchFamily="2" charset="0"/>
              </a:rPr>
              <a:t>or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have</a:t>
            </a:r>
            <a:r>
              <a:rPr lang="de-DE" sz="800" dirty="0">
                <a:latin typeface="Montserrat" panose="02000505000000020004" pitchFamily="2" charset="0"/>
              </a:rPr>
              <a:t> a 3d </a:t>
            </a:r>
            <a:r>
              <a:rPr lang="de-DE" sz="800" dirty="0" err="1">
                <a:latin typeface="Montserrat" panose="02000505000000020004" pitchFamily="2" charset="0"/>
              </a:rPr>
              <a:t>print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covered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metal</a:t>
            </a:r>
            <a:r>
              <a:rPr lang="de-DE" sz="800" dirty="0">
                <a:latin typeface="Montserrat" panose="02000505000000020004" pitchFamily="2" charset="0"/>
              </a:rPr>
              <a:t> </a:t>
            </a:r>
            <a:r>
              <a:rPr lang="de-DE" sz="800" dirty="0" err="1">
                <a:latin typeface="Montserrat" panose="02000505000000020004" pitchFamily="2" charset="0"/>
              </a:rPr>
              <a:t>core</a:t>
            </a:r>
            <a:endParaRPr lang="de-DE" sz="800" dirty="0">
              <a:latin typeface="Montserrat" panose="02000505000000020004" pitchFamily="2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8984B6A-A658-0CFE-6B37-CDB5038A8777}"/>
              </a:ext>
            </a:extLst>
          </p:cNvPr>
          <p:cNvSpPr txBox="1"/>
          <p:nvPr/>
        </p:nvSpPr>
        <p:spPr>
          <a:xfrm>
            <a:off x="4237462" y="5749615"/>
            <a:ext cx="7048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latin typeface="Montserrat" panose="02000505000000020004" pitchFamily="2" charset="0"/>
              </a:rPr>
              <a:t>Cost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can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drastically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reduced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either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by</a:t>
            </a:r>
            <a:r>
              <a:rPr lang="de-DE" sz="1600" dirty="0">
                <a:latin typeface="Montserrat" panose="02000505000000020004" pitchFamily="2" charset="0"/>
              </a:rPr>
              <a:t> CNC </a:t>
            </a:r>
            <a:r>
              <a:rPr lang="de-DE" sz="1600" dirty="0" err="1">
                <a:latin typeface="Montserrat" panose="02000505000000020004" pitchFamily="2" charset="0"/>
              </a:rPr>
              <a:t>sponsorship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bearing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sponsorship</a:t>
            </a:r>
            <a:r>
              <a:rPr lang="de-DE" sz="1600" dirty="0">
                <a:latin typeface="Montserrat" panose="02000505000000020004" pitchFamily="2" charset="0"/>
              </a:rPr>
              <a:t> -&gt; CNC: JLCCNC, </a:t>
            </a:r>
            <a:r>
              <a:rPr lang="de-DE" sz="1600" dirty="0" err="1">
                <a:latin typeface="Montserrat" panose="02000505000000020004" pitchFamily="2" charset="0"/>
              </a:rPr>
              <a:t>PCBWay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similar</a:t>
            </a:r>
            <a:endParaRPr lang="de-DE" sz="1600" dirty="0"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5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86EA-7F6F-7893-5E1A-D2DFAEAC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7FFB6109-AEE4-9EFE-3D4D-CA1619AB6CEB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3F7BE7EB-975C-F17F-228A-EE3A09FD018B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Current</a:t>
            </a:r>
            <a:r>
              <a:rPr lang="de-DE" sz="3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concerns</a:t>
            </a:r>
            <a:endParaRPr lang="de-DE" sz="3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EB3A736F-98BB-8B15-847A-74AD2E33ED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FF080BF-247E-966B-9A47-E29366DAB00B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2433732-77F5-C3A0-DD56-FA37C84AD13A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8C95AF56-DFB9-5A25-EEF5-D7401243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50D20052-0452-766E-1F00-CE0CB88DE4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1DE9427A-718E-D324-AAE8-77A97F30AE5A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9F5A577-C742-FB0E-B07A-9F4FB7284C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B8C7D654-E775-6488-4602-E36E5F413830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E2014B72-0B9F-2BF2-9F6B-050CACBD07FE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11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E78248AB-B234-C9B8-DA39-A5EC7D8E04D6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6B9EC6B3-665D-7CF0-089F-AF5A49454036}"/>
              </a:ext>
            </a:extLst>
          </p:cNvPr>
          <p:cNvSpPr txBox="1"/>
          <p:nvPr/>
        </p:nvSpPr>
        <p:spPr>
          <a:xfrm>
            <a:off x="447778" y="1399509"/>
            <a:ext cx="581505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Does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everything</a:t>
            </a:r>
            <a:r>
              <a:rPr lang="de-DE" sz="1600" dirty="0">
                <a:latin typeface="Montserrat" panose="02000505000000020004" pitchFamily="2" charset="0"/>
              </a:rPr>
              <a:t> fit in real </a:t>
            </a:r>
            <a:r>
              <a:rPr lang="de-DE" sz="1600" dirty="0" err="1">
                <a:latin typeface="Montserrat" panose="02000505000000020004" pitchFamily="2" charset="0"/>
              </a:rPr>
              <a:t>life</a:t>
            </a:r>
            <a:r>
              <a:rPr lang="de-DE" sz="1600" dirty="0">
                <a:latin typeface="Montserrat" panose="02000505000000020004" pitchFamily="2" charset="0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Structural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integrity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r>
              <a:rPr lang="de-DE" sz="1600" dirty="0">
                <a:latin typeface="Montserrat" panose="02000505000000020004" pitchFamily="2" charset="0"/>
              </a:rPr>
              <a:t> due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cutouts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holes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Connection </a:t>
            </a:r>
            <a:r>
              <a:rPr lang="de-DE" sz="1600" dirty="0" err="1">
                <a:latin typeface="Montserrat" panose="02000505000000020004" pitchFamily="2" charset="0"/>
              </a:rPr>
              <a:t>to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connector</a:t>
            </a:r>
            <a:r>
              <a:rPr lang="de-DE" sz="1600" dirty="0">
                <a:latin typeface="Montserrat" panose="02000505000000020004" pitchFamily="2" charset="0"/>
              </a:rPr>
              <a:t> 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Weight</a:t>
            </a:r>
            <a:endParaRPr lang="de-DE" sz="1600" dirty="0">
              <a:latin typeface="Montserrat" panose="02000505000000020004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Is</a:t>
            </a:r>
            <a:r>
              <a:rPr lang="de-DE" sz="1400" dirty="0">
                <a:latin typeface="Montserrat" panose="02000505000000020004" pitchFamily="2" charset="0"/>
              </a:rPr>
              <a:t> generative design </a:t>
            </a:r>
            <a:r>
              <a:rPr lang="de-DE" sz="1400" dirty="0" err="1">
                <a:latin typeface="Montserrat" panose="02000505000000020004" pitchFamily="2" charset="0"/>
              </a:rPr>
              <a:t>applicable</a:t>
            </a:r>
            <a:r>
              <a:rPr lang="de-DE" sz="1400" dirty="0">
                <a:latin typeface="Montserrat" panose="02000505000000020004" pitchFamily="2" charset="0"/>
              </a:rPr>
              <a:t> in </a:t>
            </a:r>
            <a:r>
              <a:rPr lang="de-DE" sz="1400" dirty="0" err="1">
                <a:latin typeface="Montserrat" panose="02000505000000020004" pitchFamily="2" charset="0"/>
              </a:rPr>
              <a:t>our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case</a:t>
            </a:r>
            <a:r>
              <a:rPr lang="de-DE" sz="1400" dirty="0">
                <a:latin typeface="Montserrat" panose="02000505000000020004" pitchFamily="2" charset="0"/>
              </a:rPr>
              <a:t>?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Montserrat" panose="02000505000000020004" pitchFamily="2" charset="0"/>
              </a:rPr>
              <a:t>Can </a:t>
            </a:r>
            <a:r>
              <a:rPr lang="de-DE" sz="1400" dirty="0" err="1">
                <a:latin typeface="Montserrat" panose="02000505000000020004" pitchFamily="2" charset="0"/>
              </a:rPr>
              <a:t>drastically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reduce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weight</a:t>
            </a:r>
            <a:r>
              <a:rPr lang="de-DE" sz="1400" dirty="0">
                <a:latin typeface="Montserrat" panose="02000505000000020004" pitchFamily="2" charset="0"/>
              </a:rPr>
              <a:t>, but </a:t>
            </a:r>
            <a:r>
              <a:rPr lang="de-DE" sz="1400" dirty="0" err="1">
                <a:latin typeface="Montserrat" panose="02000505000000020004" pitchFamily="2" charset="0"/>
              </a:rPr>
              <a:t>costs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more</a:t>
            </a:r>
            <a:r>
              <a:rPr lang="de-DE" sz="1400" dirty="0">
                <a:latin typeface="Montserrat" panose="02000505000000020004" pitchFamily="2" charset="0"/>
              </a:rPr>
              <a:t> in </a:t>
            </a:r>
            <a:r>
              <a:rPr lang="de-DE" sz="1400" dirty="0" err="1">
                <a:latin typeface="Montserrat" panose="02000505000000020004" pitchFamily="2" charset="0"/>
              </a:rPr>
              <a:t>manufacturing</a:t>
            </a:r>
            <a:endParaRPr lang="de-DE" sz="1400" dirty="0">
              <a:latin typeface="Montserrat" panose="02000505000000020004" pitchFamily="2" charset="0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Montserrat" panose="02000505000000020004" pitchFamily="2" charset="0"/>
              </a:rPr>
              <a:t>Load </a:t>
            </a:r>
            <a:r>
              <a:rPr lang="de-DE" sz="1400" dirty="0" err="1">
                <a:latin typeface="Montserrat" panose="02000505000000020004" pitchFamily="2" charset="0"/>
              </a:rPr>
              <a:t>simulations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needed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first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Can </a:t>
            </a:r>
            <a:r>
              <a:rPr lang="de-DE" sz="1600" dirty="0" err="1">
                <a:latin typeface="Montserrat" panose="02000505000000020004" pitchFamily="2" charset="0"/>
              </a:rPr>
              <a:t>gears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sustain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load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Are </a:t>
            </a:r>
            <a:r>
              <a:rPr lang="de-DE" sz="1600" dirty="0" err="1">
                <a:latin typeface="Montserrat" panose="02000505000000020004" pitchFamily="2" charset="0"/>
              </a:rPr>
              <a:t>simulations</a:t>
            </a:r>
            <a:r>
              <a:rPr lang="de-DE" sz="1600" dirty="0">
                <a:latin typeface="Montserrat" panose="02000505000000020004" pitchFamily="2" charset="0"/>
              </a:rPr>
              <a:t> possible </a:t>
            </a:r>
            <a:r>
              <a:rPr lang="de-DE" sz="1600" dirty="0" err="1">
                <a:latin typeface="Montserrat" panose="02000505000000020004" pitchFamily="2" charset="0"/>
              </a:rPr>
              <a:t>within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the</a:t>
            </a:r>
            <a:r>
              <a:rPr lang="de-DE" sz="1600" dirty="0">
                <a:latin typeface="Montserrat" panose="02000505000000020004" pitchFamily="2" charset="0"/>
              </a:rPr>
              <a:t> time frame?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Dependened</a:t>
            </a:r>
            <a:r>
              <a:rPr lang="de-DE" sz="1400" dirty="0">
                <a:latin typeface="Montserrat" panose="02000505000000020004" pitchFamily="2" charset="0"/>
              </a:rPr>
              <a:t> on a </a:t>
            </a:r>
            <a:r>
              <a:rPr lang="de-DE" sz="1400" dirty="0" err="1">
                <a:latin typeface="Montserrat" panose="02000505000000020004" pitchFamily="2" charset="0"/>
              </a:rPr>
              <a:t>full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outer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structure</a:t>
            </a:r>
            <a:endParaRPr lang="de-DE" sz="14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How </a:t>
            </a:r>
            <a:r>
              <a:rPr lang="de-DE" sz="1600" dirty="0" err="1">
                <a:latin typeface="Montserrat" panose="02000505000000020004" pitchFamily="2" charset="0"/>
              </a:rPr>
              <a:t>can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we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evaluate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simulations</a:t>
            </a:r>
            <a:r>
              <a:rPr lang="de-DE" sz="1600" dirty="0">
                <a:latin typeface="Montserrat" panose="02000505000000020004" pitchFamily="2" charset="0"/>
              </a:rPr>
              <a:t> in real </a:t>
            </a:r>
            <a:r>
              <a:rPr lang="de-DE" sz="1600" dirty="0" err="1">
                <a:latin typeface="Montserrat" panose="02000505000000020004" pitchFamily="2" charset="0"/>
              </a:rPr>
              <a:t>life</a:t>
            </a:r>
            <a:r>
              <a:rPr lang="de-DE" sz="1600" dirty="0">
                <a:latin typeface="Montserrat" panose="02000505000000020004" pitchFamily="2" charset="0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Flap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size</a:t>
            </a:r>
            <a:endParaRPr lang="de-DE" sz="1600" dirty="0">
              <a:latin typeface="Montserrat" panose="02000505000000020004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Simulations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needed</a:t>
            </a:r>
            <a:endParaRPr lang="de-DE" sz="1400" dirty="0">
              <a:latin typeface="Montserrat" panose="02000505000000020004" pitchFamily="2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Montserrat" panose="02000505000000020004" pitchFamily="2" charset="0"/>
              </a:rPr>
              <a:t>Full</a:t>
            </a:r>
            <a:r>
              <a:rPr lang="de-DE" sz="1400" dirty="0">
                <a:latin typeface="Montserrat" panose="02000505000000020004" pitchFamily="2" charset="0"/>
              </a:rPr>
              <a:t> rocket </a:t>
            </a:r>
            <a:r>
              <a:rPr lang="de-DE" sz="1400" dirty="0" err="1">
                <a:latin typeface="Montserrat" panose="02000505000000020004" pitchFamily="2" charset="0"/>
              </a:rPr>
              <a:t>model</a:t>
            </a:r>
            <a:r>
              <a:rPr lang="de-DE" sz="1400" dirty="0">
                <a:latin typeface="Montserrat" panose="02000505000000020004" pitchFamily="2" charset="0"/>
              </a:rPr>
              <a:t> </a:t>
            </a:r>
            <a:r>
              <a:rPr lang="de-DE" sz="1400" dirty="0" err="1">
                <a:latin typeface="Montserrat" panose="02000505000000020004" pitchFamily="2" charset="0"/>
              </a:rPr>
              <a:t>needed</a:t>
            </a:r>
            <a:endParaRPr lang="de-DE" sz="1400" dirty="0">
              <a:latin typeface="Montserrat" panose="02000505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Reliable and </a:t>
            </a:r>
            <a:r>
              <a:rPr lang="de-DE" sz="1600" dirty="0" err="1">
                <a:latin typeface="Montserrat" panose="02000505000000020004" pitchFamily="2" charset="0"/>
              </a:rPr>
              <a:t>symmetrical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locking-mechanism</a:t>
            </a:r>
            <a:endParaRPr lang="de-DE" sz="1600" dirty="0">
              <a:latin typeface="Montserrat" panose="02000505000000020004" pitchFamily="2" charset="0"/>
            </a:endParaRPr>
          </a:p>
        </p:txBody>
      </p:sp>
      <p:pic>
        <p:nvPicPr>
          <p:cNvPr id="3" name="Grafik 2" descr="Ein Bild, das Screenshot, Kunst enthält.&#10;&#10;KI-generierte Inhalte können fehlerhaft sein.">
            <a:extLst>
              <a:ext uri="{FF2B5EF4-FFF2-40B4-BE49-F238E27FC236}">
                <a16:creationId xmlns:a16="http://schemas.microsoft.com/office/drawing/2014/main" id="{29F961D2-B14B-51AC-3239-E463BA5A1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3021" y="1505385"/>
            <a:ext cx="4378253" cy="417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EE7D-F326-1058-DA33-955D1AE5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5;p2">
            <a:extLst>
              <a:ext uri="{FF2B5EF4-FFF2-40B4-BE49-F238E27FC236}">
                <a16:creationId xmlns:a16="http://schemas.microsoft.com/office/drawing/2014/main" id="{24AA2B29-653E-A696-30D1-52961DEFDA74}"/>
              </a:ext>
            </a:extLst>
          </p:cNvPr>
          <p:cNvSpPr/>
          <p:nvPr/>
        </p:nvSpPr>
        <p:spPr>
          <a:xfrm>
            <a:off x="470332" y="151064"/>
            <a:ext cx="11295008" cy="9276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SzPts val="3000"/>
            </a:pP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3994B439-00EC-7C28-6D86-1ABDC91872F6}"/>
              </a:ext>
            </a:extLst>
          </p:cNvPr>
          <p:cNvSpPr txBox="1"/>
          <p:nvPr/>
        </p:nvSpPr>
        <p:spPr>
          <a:xfrm>
            <a:off x="470332" y="293897"/>
            <a:ext cx="10348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3000"/>
            </a:pPr>
            <a:r>
              <a:rPr lang="de-DE" sz="36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Prospects</a:t>
            </a:r>
            <a:endParaRPr lang="de-DE" sz="3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67;p2" descr="Ein Bild, das Cartoon, Text, Zeichnung, Clipart enthält.">
            <a:extLst>
              <a:ext uri="{FF2B5EF4-FFF2-40B4-BE49-F238E27FC236}">
                <a16:creationId xmlns:a16="http://schemas.microsoft.com/office/drawing/2014/main" id="{3CB5940B-4D83-0D78-9632-A694F9FA34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3623" y="275042"/>
            <a:ext cx="679643" cy="679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AE0D923-6D21-758D-8A8E-C46AA974CBBB}"/>
              </a:ext>
            </a:extLst>
          </p:cNvPr>
          <p:cNvSpPr txBox="1">
            <a:spLocks/>
          </p:cNvSpPr>
          <p:nvPr/>
        </p:nvSpPr>
        <p:spPr>
          <a:xfrm>
            <a:off x="4723683" y="64383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900" dirty="0">
                <a:solidFill>
                  <a:schemeClr val="tx1"/>
                </a:solidFill>
                <a:latin typeface="Montserrat" panose="00000500000000000000" pitchFamily="2" charset="0"/>
              </a:rPr>
              <a:t>Alle Rechte vorbehalten – Jason Gläser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2D34715-1FF9-0F77-DFFF-24FAD403717C}"/>
              </a:ext>
            </a:extLst>
          </p:cNvPr>
          <p:cNvSpPr txBox="1">
            <a:spLocks/>
          </p:cNvSpPr>
          <p:nvPr/>
        </p:nvSpPr>
        <p:spPr>
          <a:xfrm>
            <a:off x="7824423" y="64342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3E2F0F82-7115-B053-F650-DF0F4741F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38" y="6520300"/>
            <a:ext cx="603523" cy="20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oogle Shape;182;p7">
            <a:extLst>
              <a:ext uri="{FF2B5EF4-FFF2-40B4-BE49-F238E27FC236}">
                <a16:creationId xmlns:a16="http://schemas.microsoft.com/office/drawing/2014/main" id="{A906A830-5F2F-76B7-587E-647587146B9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196" y="6490089"/>
            <a:ext cx="1329388" cy="2615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0;p3">
            <a:extLst>
              <a:ext uri="{FF2B5EF4-FFF2-40B4-BE49-F238E27FC236}">
                <a16:creationId xmlns:a16="http://schemas.microsoft.com/office/drawing/2014/main" id="{7955A547-0BA4-30A0-0BF3-7E069F78685F}"/>
              </a:ext>
            </a:extLst>
          </p:cNvPr>
          <p:cNvSpPr/>
          <p:nvPr/>
        </p:nvSpPr>
        <p:spPr>
          <a:xfrm>
            <a:off x="447778" y="6325869"/>
            <a:ext cx="11087437" cy="45719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400"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4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A60A834-25F3-6717-5373-A1CBB373BC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235" y="6420341"/>
            <a:ext cx="1329220" cy="361548"/>
          </a:xfrm>
          <a:prstGeom prst="rect">
            <a:avLst/>
          </a:prstGeom>
        </p:spPr>
      </p:pic>
      <p:cxnSp>
        <p:nvCxnSpPr>
          <p:cNvPr id="24" name="Straight Connector 49">
            <a:extLst>
              <a:ext uri="{FF2B5EF4-FFF2-40B4-BE49-F238E27FC236}">
                <a16:creationId xmlns:a16="http://schemas.microsoft.com/office/drawing/2014/main" id="{5D6F0B68-1E7A-DC7D-2223-931521135BE7}"/>
              </a:ext>
            </a:extLst>
          </p:cNvPr>
          <p:cNvCxnSpPr>
            <a:cxnSpLocks/>
          </p:cNvCxnSpPr>
          <p:nvPr/>
        </p:nvCxnSpPr>
        <p:spPr>
          <a:xfrm>
            <a:off x="4044013" y="6438324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B06368B5-3CB9-A7D1-08F1-5B847C399132}"/>
              </a:ext>
            </a:extLst>
          </p:cNvPr>
          <p:cNvSpPr txBox="1">
            <a:spLocks/>
          </p:cNvSpPr>
          <p:nvPr/>
        </p:nvSpPr>
        <p:spPr>
          <a:xfrm>
            <a:off x="7286473" y="6449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F9C83-C0AB-48E1-A297-0AC50A5C2BE6}" type="slidenum">
              <a:rPr lang="de-DE" sz="2000" smtClean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pPr/>
              <a:t>12</a:t>
            </a:fld>
            <a:r>
              <a:rPr lang="de-DE" sz="2000" dirty="0">
                <a:ln w="12700">
                  <a:noFill/>
                </a:ln>
                <a:solidFill>
                  <a:schemeClr val="tx1"/>
                </a:solidFill>
                <a:latin typeface="Montserrat" panose="00000500000000000000" pitchFamily="2" charset="0"/>
              </a:rPr>
              <a:t>/13</a:t>
            </a:r>
          </a:p>
        </p:txBody>
      </p:sp>
      <p:cxnSp>
        <p:nvCxnSpPr>
          <p:cNvPr id="26" name="Straight Connector 1023">
            <a:extLst>
              <a:ext uri="{FF2B5EF4-FFF2-40B4-BE49-F238E27FC236}">
                <a16:creationId xmlns:a16="http://schemas.microsoft.com/office/drawing/2014/main" id="{AEEC7B00-2AA6-565A-1D8E-FCDCB5842007}"/>
              </a:ext>
            </a:extLst>
          </p:cNvPr>
          <p:cNvCxnSpPr>
            <a:cxnSpLocks/>
          </p:cNvCxnSpPr>
          <p:nvPr/>
        </p:nvCxnSpPr>
        <p:spPr>
          <a:xfrm>
            <a:off x="7938981" y="6430045"/>
            <a:ext cx="0" cy="365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509140C-64A9-1269-A99B-50B90484707E}"/>
              </a:ext>
            </a:extLst>
          </p:cNvPr>
          <p:cNvSpPr txBox="1"/>
          <p:nvPr/>
        </p:nvSpPr>
        <p:spPr>
          <a:xfrm>
            <a:off x="447778" y="1618204"/>
            <a:ext cx="5815058" cy="263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Optimisation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for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weight</a:t>
            </a:r>
            <a:endParaRPr lang="de-DE" sz="1600" dirty="0">
              <a:latin typeface="Montserrat" panose="02000505000000020004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First </a:t>
            </a:r>
            <a:r>
              <a:rPr lang="de-DE" sz="1600" dirty="0" err="1">
                <a:latin typeface="Montserrat" panose="02000505000000020004" pitchFamily="2" charset="0"/>
              </a:rPr>
              <a:t>simulations</a:t>
            </a:r>
            <a:r>
              <a:rPr lang="de-DE" sz="1600" dirty="0">
                <a:latin typeface="Montserrat" panose="02000505000000020004" pitchFamily="2" charset="0"/>
              </a:rPr>
              <a:t> in Q1 2026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Test fit </a:t>
            </a:r>
            <a:r>
              <a:rPr lang="de-DE" sz="1600" dirty="0" err="1">
                <a:latin typeface="Montserrat" panose="02000505000000020004" pitchFamily="2" charset="0"/>
              </a:rPr>
              <a:t>with</a:t>
            </a:r>
            <a:r>
              <a:rPr lang="de-DE" sz="1600" dirty="0">
                <a:latin typeface="Montserrat" panose="02000505000000020004" pitchFamily="2" charset="0"/>
              </a:rPr>
              <a:t> 3D-printed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 in </a:t>
            </a:r>
            <a:r>
              <a:rPr lang="de-DE" sz="1600" dirty="0" err="1">
                <a:latin typeface="Montserrat" panose="02000505000000020004" pitchFamily="2" charset="0"/>
              </a:rPr>
              <a:t>January</a:t>
            </a:r>
            <a:r>
              <a:rPr lang="de-DE" sz="1600" dirty="0">
                <a:latin typeface="Montserrat" panose="02000505000000020004" pitchFamily="2" charset="0"/>
              </a:rPr>
              <a:t> 2026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(</a:t>
            </a:r>
            <a:r>
              <a:rPr lang="de-DE" sz="1600" dirty="0" err="1">
                <a:latin typeface="Montserrat" panose="02000505000000020004" pitchFamily="2" charset="0"/>
              </a:rPr>
              <a:t>Reduce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complexity</a:t>
            </a:r>
            <a:r>
              <a:rPr lang="de-DE" sz="1600" dirty="0">
                <a:latin typeface="Montserrat" panose="02000505000000020004" pitchFamily="2" charset="0"/>
              </a:rPr>
              <a:t> and </a:t>
            </a:r>
            <a:r>
              <a:rPr lang="de-DE" sz="1600" dirty="0" err="1">
                <a:latin typeface="Montserrat" panose="02000505000000020004" pitchFamily="2" charset="0"/>
              </a:rPr>
              <a:t>amount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of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parts</a:t>
            </a:r>
            <a:r>
              <a:rPr lang="de-DE" sz="16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Further </a:t>
            </a:r>
            <a:r>
              <a:rPr lang="de-DE" sz="1600" dirty="0" err="1">
                <a:latin typeface="Montserrat" panose="02000505000000020004" pitchFamily="2" charset="0"/>
              </a:rPr>
              <a:t>reduce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body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tube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600" dirty="0" err="1">
                <a:latin typeface="Montserrat" panose="02000505000000020004" pitchFamily="2" charset="0"/>
              </a:rPr>
              <a:t>cutouts</a:t>
            </a:r>
            <a:r>
              <a:rPr lang="de-DE" sz="1600" dirty="0">
                <a:latin typeface="Montserrat" panose="02000505000000020004" pitchFamily="2" charset="0"/>
              </a:rPr>
              <a:t> </a:t>
            </a:r>
            <a:r>
              <a:rPr lang="de-DE" sz="1200" dirty="0">
                <a:latin typeface="Montserrat" panose="02000505000000020004" pitchFamily="2" charset="0"/>
              </a:rPr>
              <a:t>(</a:t>
            </a:r>
            <a:r>
              <a:rPr lang="de-DE" sz="1200" dirty="0" err="1">
                <a:latin typeface="Montserrat" panose="02000505000000020004" pitchFamily="2" charset="0"/>
              </a:rPr>
              <a:t>long</a:t>
            </a:r>
            <a:r>
              <a:rPr lang="de-DE" sz="1200" dirty="0">
                <a:latin typeface="Montserrat" panose="02000505000000020004" pitchFamily="2" charset="0"/>
              </a:rPr>
              <a:t> </a:t>
            </a:r>
            <a:r>
              <a:rPr lang="de-DE" sz="1200" dirty="0" err="1">
                <a:latin typeface="Montserrat" panose="02000505000000020004" pitchFamily="2" charset="0"/>
              </a:rPr>
              <a:t>term</a:t>
            </a:r>
            <a:r>
              <a:rPr lang="de-DE" sz="1200" dirty="0">
                <a:latin typeface="Montserrat" panose="02000505000000020004" pitchFamily="2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latin typeface="Montserrat" panose="02000505000000020004" pitchFamily="2" charset="0"/>
              </a:rPr>
              <a:t>Design review </a:t>
            </a:r>
            <a:r>
              <a:rPr lang="de-DE" sz="1600" dirty="0" err="1">
                <a:latin typeface="Montserrat" panose="02000505000000020004" pitchFamily="2" charset="0"/>
              </a:rPr>
              <a:t>with</a:t>
            </a:r>
            <a:r>
              <a:rPr lang="de-DE" sz="1600" dirty="0">
                <a:latin typeface="Montserrat" panose="02000505000000020004" pitchFamily="2" charset="0"/>
              </a:rPr>
              <a:t> RFA in </a:t>
            </a:r>
            <a:r>
              <a:rPr lang="de-DE" sz="1600" dirty="0" err="1">
                <a:latin typeface="Montserrat" panose="02000505000000020004" pitchFamily="2" charset="0"/>
              </a:rPr>
              <a:t>February</a:t>
            </a:r>
            <a:r>
              <a:rPr lang="de-DE" sz="1600" dirty="0">
                <a:latin typeface="Montserrat" panose="02000505000000020004" pitchFamily="2" charset="0"/>
              </a:rPr>
              <a:t> 2026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latin typeface="Montserrat" panose="02000505000000020004" pitchFamily="2" charset="0"/>
              </a:rPr>
              <a:t>Electrical</a:t>
            </a:r>
            <a:r>
              <a:rPr lang="de-DE" sz="1600" dirty="0">
                <a:latin typeface="Montserrat" panose="02000505000000020004" pitchFamily="2" charset="0"/>
              </a:rPr>
              <a:t> design in Q1 2026</a:t>
            </a:r>
          </a:p>
        </p:txBody>
      </p:sp>
      <p:pic>
        <p:nvPicPr>
          <p:cNvPr id="4" name="Grafik 3" descr="Ein Bild, das Tür, Design enthält.&#10;&#10;KI-generierte Inhalte können fehlerhaft sein.">
            <a:extLst>
              <a:ext uri="{FF2B5EF4-FFF2-40B4-BE49-F238E27FC236}">
                <a16:creationId xmlns:a16="http://schemas.microsoft.com/office/drawing/2014/main" id="{80A34E0A-04E0-CF6F-9EAC-C42C1240E4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045" y="1618204"/>
            <a:ext cx="5091224" cy="423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1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8019421" y="195943"/>
            <a:ext cx="3724800" cy="460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47869" y="195943"/>
            <a:ext cx="3724800" cy="460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233645" y="195943"/>
            <a:ext cx="3724800" cy="460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604451" y="358029"/>
            <a:ext cx="4139600" cy="6084000"/>
          </a:xfrm>
          <a:prstGeom prst="rect">
            <a:avLst/>
          </a:prstGeom>
          <a:solidFill>
            <a:srgbClr val="9D1C2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604449" y="3051984"/>
            <a:ext cx="4139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4500"/>
            </a:pPr>
            <a:r>
              <a:rPr lang="de-DE" sz="6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Vielen</a:t>
            </a:r>
            <a:endParaRPr sz="146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buClr>
                <a:srgbClr val="000000"/>
              </a:buClr>
              <a:buSzPts val="4500"/>
            </a:pPr>
            <a:r>
              <a:rPr lang="de-DE" sz="6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Dank!</a:t>
            </a:r>
            <a:endParaRPr sz="146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8" name="Google Shape;188;p7" descr="Ein Bild, das Cartoon, Text, Zeichnung, Clipart enthäl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29537" y="771151"/>
            <a:ext cx="2089503" cy="208950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1435869" y="1990310"/>
            <a:ext cx="37248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de-DE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raketenbau@fb07.uni-giessen.de</a:t>
            </a:r>
            <a:endParaRPr sz="1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667" y="1911301"/>
            <a:ext cx="496532" cy="49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651768" y="2545996"/>
            <a:ext cx="496531" cy="496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381871" y="2625023"/>
            <a:ext cx="3629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de-DE" sz="16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spaceflight-rocketry-giessen.de</a:t>
            </a:r>
            <a:endParaRPr sz="146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47867" y="416201"/>
            <a:ext cx="6321600" cy="110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de-DE" sz="1867">
                <a:solidFill>
                  <a:srgbClr val="9D1C20"/>
                </a:solidFill>
                <a:latin typeface="Montserrat"/>
                <a:ea typeface="Montserrat"/>
                <a:cs typeface="Montserrat"/>
                <a:sym typeface="Montserrat"/>
              </a:rPr>
              <a:t>Kontaktiert uns gerne jederzeit bei Fragen oder falls ihr weitere Informationen erhalten wollt per Insta, unserer Website oder gerne auch per Mail. </a:t>
            </a:r>
            <a:endParaRPr sz="1867">
              <a:solidFill>
                <a:srgbClr val="9D1C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52165" y="4202008"/>
            <a:ext cx="1773724" cy="177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1173" y="4246028"/>
            <a:ext cx="1773725" cy="17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89810" y="4202008"/>
            <a:ext cx="1773724" cy="177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 title="Datei:CIS-A2K Instagram Icon (Black).svg – Wikipedia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767" y="3180732"/>
            <a:ext cx="496531" cy="4965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1381871" y="3259740"/>
            <a:ext cx="3629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de-DE" sz="16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sprog.ev</a:t>
            </a:r>
            <a:endParaRPr sz="146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72039" y="4862982"/>
            <a:ext cx="1794413" cy="48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14045" y="5412270"/>
            <a:ext cx="1910403" cy="3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394ADCB-7B59-1DA7-42A0-C0559A6E3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556" y="5896721"/>
            <a:ext cx="1081383" cy="36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4EF9C06-5B7A-BF8D-D2B5-07D464C3FB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113" y="4246029"/>
            <a:ext cx="1773724" cy="1773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Office PowerPoint</Application>
  <PresentationFormat>Widescreen</PresentationFormat>
  <Paragraphs>248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Gläser</dc:creator>
  <cp:lastModifiedBy>Jason Gläser</cp:lastModifiedBy>
  <cp:revision>60</cp:revision>
  <dcterms:created xsi:type="dcterms:W3CDTF">2025-04-11T12:30:21Z</dcterms:created>
  <dcterms:modified xsi:type="dcterms:W3CDTF">2026-01-16T17:43:34Z</dcterms:modified>
</cp:coreProperties>
</file>